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T Supermolot Neue Expanded Bold" charset="1" panose="02000803000000020004"/>
      <p:regular r:id="rId23"/>
    </p:embeddedFont>
    <p:embeddedFont>
      <p:font typeface="Open Sans" charset="1" panose="020B0606030504020204"/>
      <p:regular r:id="rId24"/>
    </p:embeddedFont>
    <p:embeddedFont>
      <p:font typeface="Open Sans Bold" charset="1" panose="020B0806030504020204"/>
      <p:regular r:id="rId25"/>
    </p:embeddedFont>
    <p:embeddedFont>
      <p:font typeface="TT Supermolot Neue Bold" charset="1" panose="0200080303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our body faces an infection, a special type of immune cell called B cells starts to multiply and produce antibodies. These antibodies are proteins that help us recognize and neutralize germs like viruses and bacteria. During this process, B cells undergo small changes, called somatic mutations, to make the antibodies even better at binding to these germs. This leads to some antibodies being more common because they’re more effective, while others become less common. In simple terms, the pattern of these antibodies in our body can tell us a lot about our immune health, our age, our vaccination history, and what kind of infections we’ve been exposed to.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Proteins are made of building blocks called amino acids. Each amino acid comes from a set of three DNA letters, called a codon. Antibodies, which help our immune system fight germs, have parts that can change a lot and parts that stay mostly the same. The changing parts help the antibody grab onto germs, while the stable parts keep the antibody’s shape. By studying these changes in amino acids, we can see why different people’s immune systems respond differently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want to look at small local patterns in antibody sequences, not just the whole long sequences.</a:t>
            </a:r>
          </a:p>
          <a:p>
            <a:r>
              <a:rPr lang="en-US"/>
              <a:t>By focusing on short triplets, we can see small differences and hidden relationships between antibody groups.</a:t>
            </a:r>
          </a:p>
          <a:p>
            <a:r>
              <a:rPr lang="en-US"/>
              <a:t>This helps us better understand how the immune system works and how antibodies evolve and respond.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github.com/pablo1611/Mutation-network-project"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grpSp>
        <p:nvGrpSpPr>
          <p:cNvPr name="Group 2" id="2"/>
          <p:cNvGrpSpPr/>
          <p:nvPr/>
        </p:nvGrpSpPr>
        <p:grpSpPr>
          <a:xfrm rot="0">
            <a:off x="0" y="-1348942"/>
            <a:ext cx="18288000" cy="10287000"/>
            <a:chOff x="0" y="0"/>
            <a:chExt cx="2833290" cy="1593725"/>
          </a:xfrm>
        </p:grpSpPr>
        <p:sp>
          <p:nvSpPr>
            <p:cNvPr name="Freeform 3" id="3"/>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12499" t="0" r="-12499" b="0"/>
              </a:stretch>
            </a:blipFill>
          </p:spPr>
        </p:sp>
      </p:grpSp>
      <p:sp>
        <p:nvSpPr>
          <p:cNvPr name="TextBox 4" id="4"/>
          <p:cNvSpPr txBox="true"/>
          <p:nvPr/>
        </p:nvSpPr>
        <p:spPr>
          <a:xfrm rot="0">
            <a:off x="1838831" y="463983"/>
            <a:ext cx="14610338" cy="3330574"/>
          </a:xfrm>
          <a:prstGeom prst="rect">
            <a:avLst/>
          </a:prstGeom>
        </p:spPr>
        <p:txBody>
          <a:bodyPr anchor="t" rtlCol="false" tIns="0" lIns="0" bIns="0" rIns="0">
            <a:spAutoFit/>
          </a:bodyPr>
          <a:lstStyle/>
          <a:p>
            <a:pPr algn="ctr">
              <a:lnSpc>
                <a:spcPts val="13300"/>
              </a:lnSpc>
              <a:spcBef>
                <a:spcPct val="0"/>
              </a:spcBef>
            </a:pPr>
            <a:r>
              <a:rPr lang="en-US" b="true" sz="9500">
                <a:solidFill>
                  <a:srgbClr val="FFFFFF"/>
                </a:solidFill>
                <a:latin typeface="TT Supermolot Neue Expanded Bold"/>
                <a:ea typeface="TT Supermolot Neue Expanded Bold"/>
                <a:cs typeface="TT Supermolot Neue Expanded Bold"/>
                <a:sym typeface="TT Supermolot Neue Expanded Bold"/>
              </a:rPr>
              <a:t>MUTATION NETWORK TOOL</a:t>
            </a:r>
          </a:p>
        </p:txBody>
      </p:sp>
      <p:sp>
        <p:nvSpPr>
          <p:cNvPr name="TextBox 5" id="5"/>
          <p:cNvSpPr txBox="true"/>
          <p:nvPr/>
        </p:nvSpPr>
        <p:spPr>
          <a:xfrm rot="0">
            <a:off x="16449169" y="8804275"/>
            <a:ext cx="1187739" cy="422275"/>
          </a:xfrm>
          <a:prstGeom prst="rect">
            <a:avLst/>
          </a:prstGeom>
        </p:spPr>
        <p:txBody>
          <a:bodyPr anchor="t" rtlCol="false" tIns="0" lIns="0" bIns="0" rIns="0">
            <a:spAutoFit/>
          </a:bodyPr>
          <a:lstStyle/>
          <a:p>
            <a:pPr algn="ctr">
              <a:lnSpc>
                <a:spcPts val="3499"/>
              </a:lnSpc>
            </a:pPr>
            <a:r>
              <a:rPr lang="en-US" sz="2499" u="sng">
                <a:solidFill>
                  <a:srgbClr val="FFFFFF"/>
                </a:solidFill>
                <a:latin typeface="Open Sans"/>
                <a:ea typeface="Open Sans"/>
                <a:cs typeface="Open Sans"/>
                <a:sym typeface="Open Sans"/>
              </a:rPr>
              <a:t>G</a:t>
            </a:r>
            <a:r>
              <a:rPr lang="en-US" sz="2499" u="sng">
                <a:solidFill>
                  <a:srgbClr val="FFFFFF"/>
                </a:solidFill>
                <a:latin typeface="Open Sans"/>
                <a:ea typeface="Open Sans"/>
                <a:cs typeface="Open Sans"/>
                <a:sym typeface="Open Sans"/>
                <a:hlinkClick r:id="rId3" tooltip="https://github.com/pablo1611/Mutation-network-project"/>
              </a:rPr>
              <a:t>itHub</a:t>
            </a:r>
          </a:p>
        </p:txBody>
      </p:sp>
      <p:sp>
        <p:nvSpPr>
          <p:cNvPr name="TextBox 6" id="6"/>
          <p:cNvSpPr txBox="true"/>
          <p:nvPr/>
        </p:nvSpPr>
        <p:spPr>
          <a:xfrm rot="0">
            <a:off x="357173" y="5160173"/>
            <a:ext cx="8786827" cy="4614871"/>
          </a:xfrm>
          <a:prstGeom prst="rect">
            <a:avLst/>
          </a:prstGeom>
        </p:spPr>
        <p:txBody>
          <a:bodyPr anchor="t" rtlCol="false" tIns="0" lIns="0" bIns="0" rIns="0">
            <a:spAutoFit/>
          </a:bodyPr>
          <a:lstStyle/>
          <a:p>
            <a:pPr algn="l">
              <a:lnSpc>
                <a:spcPts val="6218"/>
              </a:lnSpc>
            </a:pPr>
            <a:r>
              <a:rPr lang="en-US" sz="4441" b="true">
                <a:solidFill>
                  <a:srgbClr val="FFFFFF"/>
                </a:solidFill>
                <a:latin typeface="Open Sans Bold"/>
                <a:ea typeface="Open Sans Bold"/>
                <a:cs typeface="Open Sans Bold"/>
                <a:sym typeface="Open Sans Bold"/>
              </a:rPr>
              <a:t>Lee Potashnik </a:t>
            </a:r>
          </a:p>
          <a:p>
            <a:pPr algn="l">
              <a:lnSpc>
                <a:spcPts val="6218"/>
              </a:lnSpc>
            </a:pPr>
            <a:r>
              <a:rPr lang="en-US" sz="4441" b="true">
                <a:solidFill>
                  <a:srgbClr val="FFFFFF"/>
                </a:solidFill>
                <a:latin typeface="Open Sans Bold"/>
                <a:ea typeface="Open Sans Bold"/>
                <a:cs typeface="Open Sans Bold"/>
                <a:sym typeface="Open Sans Bold"/>
              </a:rPr>
              <a:t>Pablo Dobrzynski</a:t>
            </a:r>
          </a:p>
          <a:p>
            <a:pPr algn="l">
              <a:lnSpc>
                <a:spcPts val="6218"/>
              </a:lnSpc>
            </a:pPr>
          </a:p>
          <a:p>
            <a:pPr algn="l">
              <a:lnSpc>
                <a:spcPts val="6218"/>
              </a:lnSpc>
            </a:pPr>
            <a:r>
              <a:rPr lang="en-US" sz="4441" b="true">
                <a:solidFill>
                  <a:srgbClr val="FFFFFF"/>
                </a:solidFill>
                <a:latin typeface="Open Sans Bold"/>
                <a:ea typeface="Open Sans Bold"/>
                <a:cs typeface="Open Sans Bold"/>
                <a:sym typeface="Open Sans Bold"/>
              </a:rPr>
              <a:t>Supervisor: </a:t>
            </a:r>
          </a:p>
          <a:p>
            <a:pPr algn="l">
              <a:lnSpc>
                <a:spcPts val="6218"/>
              </a:lnSpc>
              <a:spcBef>
                <a:spcPct val="0"/>
              </a:spcBef>
            </a:pPr>
            <a:r>
              <a:rPr lang="en-US" b="true" sz="4441">
                <a:solidFill>
                  <a:srgbClr val="FFFFFF"/>
                </a:solidFill>
                <a:latin typeface="Open Sans Bold"/>
                <a:ea typeface="Open Sans Bold"/>
                <a:cs typeface="Open Sans Bold"/>
                <a:sym typeface="Open Sans Bold"/>
              </a:rPr>
              <a:t>Dr. Zakharia Frenkel </a:t>
            </a:r>
          </a:p>
          <a:p>
            <a:pPr algn="l">
              <a:lnSpc>
                <a:spcPts val="6218"/>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2536582" y="7921048"/>
            <a:ext cx="6097891" cy="6257165"/>
          </a:xfrm>
          <a:custGeom>
            <a:avLst/>
            <a:gdLst/>
            <a:ahLst/>
            <a:cxnLst/>
            <a:rect r="r" b="b" t="t" l="l"/>
            <a:pathLst>
              <a:path h="6257165" w="6097891">
                <a:moveTo>
                  <a:pt x="0" y="0"/>
                </a:moveTo>
                <a:lnTo>
                  <a:pt x="6097891" y="0"/>
                </a:lnTo>
                <a:lnTo>
                  <a:pt x="6097891" y="6257165"/>
                </a:lnTo>
                <a:lnTo>
                  <a:pt x="0" y="6257165"/>
                </a:lnTo>
                <a:lnTo>
                  <a:pt x="0" y="0"/>
                </a:lnTo>
                <a:close/>
              </a:path>
            </a:pathLst>
          </a:custGeom>
          <a:blipFill>
            <a:blip r:embed="rId3">
              <a:alphaModFix amt="61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636115" y="-2605280"/>
            <a:ext cx="6097891" cy="6257165"/>
          </a:xfrm>
          <a:custGeom>
            <a:avLst/>
            <a:gdLst/>
            <a:ahLst/>
            <a:cxnLst/>
            <a:rect r="r" b="b" t="t" l="l"/>
            <a:pathLst>
              <a:path h="6257165" w="6097891">
                <a:moveTo>
                  <a:pt x="0" y="0"/>
                </a:moveTo>
                <a:lnTo>
                  <a:pt x="6097891" y="0"/>
                </a:lnTo>
                <a:lnTo>
                  <a:pt x="6097891" y="6257165"/>
                </a:lnTo>
                <a:lnTo>
                  <a:pt x="0" y="6257165"/>
                </a:lnTo>
                <a:lnTo>
                  <a:pt x="0" y="0"/>
                </a:lnTo>
                <a:close/>
              </a:path>
            </a:pathLst>
          </a:custGeom>
          <a:blipFill>
            <a:blip r:embed="rId3">
              <a:alphaModFix amt="61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426356" y="6305246"/>
            <a:ext cx="2584028" cy="4114800"/>
          </a:xfrm>
          <a:custGeom>
            <a:avLst/>
            <a:gdLst/>
            <a:ahLst/>
            <a:cxnLst/>
            <a:rect r="r" b="b" t="t" l="l"/>
            <a:pathLst>
              <a:path h="4114800" w="2584028">
                <a:moveTo>
                  <a:pt x="2584028" y="4114800"/>
                </a:moveTo>
                <a:lnTo>
                  <a:pt x="0" y="4114800"/>
                </a:lnTo>
                <a:lnTo>
                  <a:pt x="0" y="0"/>
                </a:lnTo>
                <a:lnTo>
                  <a:pt x="2584028" y="0"/>
                </a:lnTo>
                <a:lnTo>
                  <a:pt x="2584028"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103531" y="4696934"/>
            <a:ext cx="5581530" cy="4465224"/>
          </a:xfrm>
          <a:custGeom>
            <a:avLst/>
            <a:gdLst/>
            <a:ahLst/>
            <a:cxnLst/>
            <a:rect r="r" b="b" t="t" l="l"/>
            <a:pathLst>
              <a:path h="4465224" w="5581530">
                <a:moveTo>
                  <a:pt x="0" y="0"/>
                </a:moveTo>
                <a:lnTo>
                  <a:pt x="5581530" y="0"/>
                </a:lnTo>
                <a:lnTo>
                  <a:pt x="5581530" y="4465224"/>
                </a:lnTo>
                <a:lnTo>
                  <a:pt x="0" y="4465224"/>
                </a:lnTo>
                <a:lnTo>
                  <a:pt x="0" y="0"/>
                </a:lnTo>
                <a:close/>
              </a:path>
            </a:pathLst>
          </a:custGeom>
          <a:blipFill>
            <a:blip r:embed="rId7"/>
            <a:stretch>
              <a:fillRect l="0" t="0" r="0" b="0"/>
            </a:stretch>
          </a:blipFill>
        </p:spPr>
      </p:sp>
      <p:sp>
        <p:nvSpPr>
          <p:cNvPr name="TextBox 6" id="6"/>
          <p:cNvSpPr txBox="true"/>
          <p:nvPr/>
        </p:nvSpPr>
        <p:spPr>
          <a:xfrm rot="0">
            <a:off x="727042" y="885825"/>
            <a:ext cx="4930688" cy="1203325"/>
          </a:xfrm>
          <a:prstGeom prst="rect">
            <a:avLst/>
          </a:prstGeom>
        </p:spPr>
        <p:txBody>
          <a:bodyPr anchor="t" rtlCol="false" tIns="0" lIns="0" bIns="0" rIns="0">
            <a:spAutoFit/>
          </a:bodyPr>
          <a:lstStyle/>
          <a:p>
            <a:pPr algn="l">
              <a:lnSpc>
                <a:spcPts val="9799"/>
              </a:lnSpc>
              <a:spcBef>
                <a:spcPct val="0"/>
              </a:spcBef>
            </a:pPr>
            <a:r>
              <a:rPr lang="en-US" b="true" sz="6999">
                <a:solidFill>
                  <a:srgbClr val="FFFFFF"/>
                </a:solidFill>
                <a:latin typeface="TT Supermolot Neue Bold"/>
                <a:ea typeface="TT Supermolot Neue Bold"/>
                <a:cs typeface="TT Supermolot Neue Bold"/>
                <a:sym typeface="TT Supermolot Neue Bold"/>
              </a:rPr>
              <a:t>Background</a:t>
            </a:r>
          </a:p>
        </p:txBody>
      </p:sp>
      <p:sp>
        <p:nvSpPr>
          <p:cNvPr name="TextBox 7" id="7"/>
          <p:cNvSpPr txBox="true"/>
          <p:nvPr/>
        </p:nvSpPr>
        <p:spPr>
          <a:xfrm rot="0">
            <a:off x="727042" y="2126638"/>
            <a:ext cx="10745746" cy="5342683"/>
          </a:xfrm>
          <a:prstGeom prst="rect">
            <a:avLst/>
          </a:prstGeom>
        </p:spPr>
        <p:txBody>
          <a:bodyPr anchor="t" rtlCol="false" tIns="0" lIns="0" bIns="0" rIns="0">
            <a:spAutoFit/>
          </a:bodyPr>
          <a:lstStyle/>
          <a:p>
            <a:pPr algn="l" marL="551614" indent="-275807" lvl="1">
              <a:lnSpc>
                <a:spcPts val="3576"/>
              </a:lnSpc>
              <a:buFont typeface="Arial"/>
              <a:buChar char="•"/>
            </a:pPr>
            <a:r>
              <a:rPr lang="en-US" sz="2554">
                <a:solidFill>
                  <a:srgbClr val="FFFFFF"/>
                </a:solidFill>
                <a:latin typeface="Open Sans"/>
                <a:ea typeface="Open Sans"/>
                <a:cs typeface="Open Sans"/>
                <a:sym typeface="Open Sans"/>
              </a:rPr>
              <a:t>When infection occurs, B cells multiply and produce antibodies.</a:t>
            </a:r>
          </a:p>
          <a:p>
            <a:pPr algn="l" marL="551614" indent="-275807" lvl="1">
              <a:lnSpc>
                <a:spcPts val="3576"/>
              </a:lnSpc>
              <a:buFont typeface="Arial"/>
              <a:buChar char="•"/>
            </a:pPr>
            <a:r>
              <a:rPr lang="en-US" sz="2554">
                <a:solidFill>
                  <a:srgbClr val="FFFFFF"/>
                </a:solidFill>
                <a:latin typeface="Open Sans"/>
                <a:ea typeface="Open Sans"/>
                <a:cs typeface="Open Sans"/>
                <a:sym typeface="Open Sans"/>
              </a:rPr>
              <a:t>Through </a:t>
            </a:r>
            <a:r>
              <a:rPr lang="en-US" sz="2554">
                <a:solidFill>
                  <a:srgbClr val="FFFFFF"/>
                </a:solidFill>
                <a:latin typeface="Open Sans"/>
                <a:ea typeface="Open Sans"/>
                <a:cs typeface="Open Sans"/>
                <a:sym typeface="Open Sans"/>
              </a:rPr>
              <a:t>Somatic Hypermutation, mutations appear in variable antibody regions.</a:t>
            </a:r>
          </a:p>
          <a:p>
            <a:pPr algn="l" marL="551614" indent="-275807" lvl="1">
              <a:lnSpc>
                <a:spcPts val="3576"/>
              </a:lnSpc>
              <a:buFont typeface="Arial"/>
              <a:buChar char="•"/>
            </a:pPr>
            <a:r>
              <a:rPr lang="en-US" sz="2554">
                <a:solidFill>
                  <a:srgbClr val="FFFFFF"/>
                </a:solidFill>
                <a:latin typeface="Open Sans"/>
                <a:ea typeface="Open Sans"/>
                <a:cs typeface="Open Sans"/>
                <a:sym typeface="Open Sans"/>
              </a:rPr>
              <a:t>Antigens are molecules that trigger an immune response. Antibodies bind to antigens to neutralize them.</a:t>
            </a:r>
          </a:p>
          <a:p>
            <a:pPr algn="l" marL="551614" indent="-275807" lvl="1">
              <a:lnSpc>
                <a:spcPts val="3576"/>
              </a:lnSpc>
              <a:buFont typeface="Arial"/>
              <a:buChar char="•"/>
            </a:pPr>
            <a:r>
              <a:rPr lang="en-US" sz="2554">
                <a:solidFill>
                  <a:srgbClr val="FFFFFF"/>
                </a:solidFill>
                <a:latin typeface="Open Sans"/>
                <a:ea typeface="Open Sans"/>
                <a:cs typeface="Open Sans"/>
                <a:sym typeface="Open Sans"/>
              </a:rPr>
              <a:t>B cells w</a:t>
            </a:r>
            <a:r>
              <a:rPr lang="en-US" sz="2554">
                <a:solidFill>
                  <a:srgbClr val="FFFFFF"/>
                </a:solidFill>
                <a:latin typeface="Open Sans"/>
                <a:ea typeface="Open Sans"/>
                <a:cs typeface="Open Sans"/>
                <a:sym typeface="Open Sans"/>
              </a:rPr>
              <a:t>ith strongest-binding antibodies survive via positive selection.</a:t>
            </a:r>
          </a:p>
          <a:p>
            <a:pPr algn="l" marL="551614" indent="-275807" lvl="1">
              <a:lnSpc>
                <a:spcPts val="3576"/>
              </a:lnSpc>
              <a:buFont typeface="Arial"/>
              <a:buChar char="•"/>
            </a:pPr>
            <a:r>
              <a:rPr lang="en-US" sz="2554">
                <a:solidFill>
                  <a:srgbClr val="FFFFFF"/>
                </a:solidFill>
                <a:latin typeface="Open Sans"/>
                <a:ea typeface="Open Sans"/>
                <a:cs typeface="Open Sans"/>
                <a:sym typeface="Open Sans"/>
              </a:rPr>
              <a:t>This creates a non-uniform distribution of antibody sequences: Some triplets appear frequently while others become rare or disappear.</a:t>
            </a:r>
          </a:p>
          <a:p>
            <a:pPr algn="l" marL="551614" indent="-275807" lvl="1">
              <a:lnSpc>
                <a:spcPts val="3576"/>
              </a:lnSpc>
              <a:spcBef>
                <a:spcPct val="0"/>
              </a:spcBef>
              <a:buFont typeface="Arial"/>
              <a:buChar char="•"/>
            </a:pPr>
            <a:r>
              <a:rPr lang="en-US" sz="2554">
                <a:solidFill>
                  <a:srgbClr val="FFFFFF"/>
                </a:solidFill>
                <a:latin typeface="Open Sans"/>
                <a:ea typeface="Open Sans"/>
                <a:cs typeface="Open Sans"/>
                <a:sym typeface="Open Sans"/>
              </a:rPr>
              <a:t>Sequence distribution reflects immune capability and is influenced by health, age, vaccinations, and exposure history.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true" flipV="true" rot="5400000">
            <a:off x="10656295" y="4979112"/>
            <a:ext cx="2584028" cy="4114800"/>
          </a:xfrm>
          <a:custGeom>
            <a:avLst/>
            <a:gdLst/>
            <a:ahLst/>
            <a:cxnLst/>
            <a:rect r="r" b="b" t="t" l="l"/>
            <a:pathLst>
              <a:path h="4114800" w="2584028">
                <a:moveTo>
                  <a:pt x="2584028" y="4114800"/>
                </a:moveTo>
                <a:lnTo>
                  <a:pt x="0" y="4114800"/>
                </a:lnTo>
                <a:lnTo>
                  <a:pt x="0" y="0"/>
                </a:lnTo>
                <a:lnTo>
                  <a:pt x="2584028" y="0"/>
                </a:lnTo>
                <a:lnTo>
                  <a:pt x="2584028"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525175" y="1521291"/>
            <a:ext cx="6734125" cy="6231196"/>
          </a:xfrm>
          <a:custGeom>
            <a:avLst/>
            <a:gdLst/>
            <a:ahLst/>
            <a:cxnLst/>
            <a:rect r="r" b="b" t="t" l="l"/>
            <a:pathLst>
              <a:path h="6231196" w="6734125">
                <a:moveTo>
                  <a:pt x="0" y="0"/>
                </a:moveTo>
                <a:lnTo>
                  <a:pt x="6734125" y="0"/>
                </a:lnTo>
                <a:lnTo>
                  <a:pt x="6734125" y="6231196"/>
                </a:lnTo>
                <a:lnTo>
                  <a:pt x="0" y="6231196"/>
                </a:lnTo>
                <a:lnTo>
                  <a:pt x="0" y="0"/>
                </a:lnTo>
                <a:close/>
              </a:path>
            </a:pathLst>
          </a:custGeom>
          <a:blipFill>
            <a:blip r:embed="rId5"/>
            <a:stretch>
              <a:fillRect l="0" t="0" r="0" b="0"/>
            </a:stretch>
          </a:blipFill>
        </p:spPr>
      </p:sp>
      <p:sp>
        <p:nvSpPr>
          <p:cNvPr name="TextBox 4" id="4"/>
          <p:cNvSpPr txBox="true"/>
          <p:nvPr/>
        </p:nvSpPr>
        <p:spPr>
          <a:xfrm rot="0">
            <a:off x="588797" y="895350"/>
            <a:ext cx="8115300" cy="1118532"/>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R</a:t>
            </a:r>
            <a:r>
              <a:rPr lang="en-US" b="true" sz="6500" strike="noStrike" u="none">
                <a:solidFill>
                  <a:srgbClr val="FFFFFF"/>
                </a:solidFill>
                <a:latin typeface="TT Supermolot Neue Bold"/>
                <a:ea typeface="TT Supermolot Neue Bold"/>
                <a:cs typeface="TT Supermolot Neue Bold"/>
                <a:sym typeface="TT Supermolot Neue Bold"/>
              </a:rPr>
              <a:t>esearch Found</a:t>
            </a:r>
            <a:r>
              <a:rPr lang="en-US" b="true" sz="6500" strike="noStrike" u="none">
                <a:solidFill>
                  <a:srgbClr val="FFFFFF"/>
                </a:solidFill>
                <a:latin typeface="TT Supermolot Neue Bold"/>
                <a:ea typeface="TT Supermolot Neue Bold"/>
                <a:cs typeface="TT Supermolot Neue Bold"/>
                <a:sym typeface="TT Supermolot Neue Bold"/>
              </a:rPr>
              <a:t>a</a:t>
            </a:r>
            <a:r>
              <a:rPr lang="en-US" b="true" sz="6500" strike="noStrike" u="none">
                <a:solidFill>
                  <a:srgbClr val="FFFFFF"/>
                </a:solidFill>
                <a:latin typeface="TT Supermolot Neue Bold"/>
                <a:ea typeface="TT Supermolot Neue Bold"/>
                <a:cs typeface="TT Supermolot Neue Bold"/>
                <a:sym typeface="TT Supermolot Neue Bold"/>
              </a:rPr>
              <a:t>tion</a:t>
            </a:r>
          </a:p>
        </p:txBody>
      </p:sp>
      <p:sp>
        <p:nvSpPr>
          <p:cNvPr name="TextBox 5" id="5"/>
          <p:cNvSpPr txBox="true"/>
          <p:nvPr/>
        </p:nvSpPr>
        <p:spPr>
          <a:xfrm rot="0">
            <a:off x="417588" y="2522242"/>
            <a:ext cx="8457717" cy="6396886"/>
          </a:xfrm>
          <a:prstGeom prst="rect">
            <a:avLst/>
          </a:prstGeom>
        </p:spPr>
        <p:txBody>
          <a:bodyPr anchor="t" rtlCol="false" tIns="0" lIns="0" bIns="0" rIns="0">
            <a:spAutoFit/>
          </a:bodyPr>
          <a:lstStyle/>
          <a:p>
            <a:pPr algn="l" marL="611884" indent="-305942" lvl="1">
              <a:lnSpc>
                <a:spcPts val="3967"/>
              </a:lnSpc>
              <a:spcBef>
                <a:spcPct val="0"/>
              </a:spcBef>
              <a:buFont typeface="Arial"/>
              <a:buChar char="•"/>
            </a:pPr>
            <a:r>
              <a:rPr lang="en-US" sz="2834">
                <a:solidFill>
                  <a:srgbClr val="FFFFFF"/>
                </a:solidFill>
                <a:latin typeface="Open Sans"/>
                <a:ea typeface="Open Sans"/>
                <a:cs typeface="Open Sans"/>
                <a:sym typeface="Open Sans"/>
              </a:rPr>
              <a:t>Prot</a:t>
            </a:r>
            <a:r>
              <a:rPr lang="en-US" sz="2834" strike="noStrike" u="none">
                <a:solidFill>
                  <a:srgbClr val="FFFFFF"/>
                </a:solidFill>
                <a:latin typeface="Open Sans"/>
                <a:ea typeface="Open Sans"/>
                <a:cs typeface="Open Sans"/>
                <a:sym typeface="Open Sans"/>
              </a:rPr>
              <a:t>eins are mad</a:t>
            </a:r>
            <a:r>
              <a:rPr lang="en-US" sz="2834" strike="noStrike" u="none">
                <a:solidFill>
                  <a:srgbClr val="FFFFFF"/>
                </a:solidFill>
                <a:latin typeface="Open Sans"/>
                <a:ea typeface="Open Sans"/>
                <a:cs typeface="Open Sans"/>
                <a:sym typeface="Open Sans"/>
              </a:rPr>
              <a:t>e</a:t>
            </a:r>
            <a:r>
              <a:rPr lang="en-US" sz="2834" strike="noStrike" u="none">
                <a:solidFill>
                  <a:srgbClr val="FFFFFF"/>
                </a:solidFill>
                <a:latin typeface="Open Sans"/>
                <a:ea typeface="Open Sans"/>
                <a:cs typeface="Open Sans"/>
                <a:sym typeface="Open Sans"/>
              </a:rPr>
              <a:t> of amino acids, each encoded by a DNA triplet (codon) </a:t>
            </a:r>
            <a:r>
              <a:rPr lang="en-US" sz="2834" strike="noStrike" u="none">
                <a:solidFill>
                  <a:srgbClr val="FFFFFF"/>
                </a:solidFill>
                <a:latin typeface="Open Sans"/>
                <a:ea typeface="Open Sans"/>
                <a:cs typeface="Open Sans"/>
                <a:sym typeface="Open Sans"/>
              </a:rPr>
              <a:t>via</a:t>
            </a:r>
            <a:r>
              <a:rPr lang="en-US" sz="2834" strike="noStrike" u="none">
                <a:solidFill>
                  <a:srgbClr val="FFFFFF"/>
                </a:solidFill>
                <a:latin typeface="Open Sans"/>
                <a:ea typeface="Open Sans"/>
                <a:cs typeface="Open Sans"/>
                <a:sym typeface="Open Sans"/>
              </a:rPr>
              <a:t> the genetic code</a:t>
            </a:r>
          </a:p>
          <a:p>
            <a:pPr algn="l" marL="611884" indent="-305942" lvl="1">
              <a:lnSpc>
                <a:spcPts val="3967"/>
              </a:lnSpc>
              <a:spcBef>
                <a:spcPct val="0"/>
              </a:spcBef>
              <a:buFont typeface="Arial"/>
              <a:buChar char="•"/>
            </a:pPr>
            <a:r>
              <a:rPr lang="en-US" sz="2834" strike="noStrike" u="none">
                <a:solidFill>
                  <a:srgbClr val="FFFFFF"/>
                </a:solidFill>
                <a:latin typeface="Open Sans"/>
                <a:ea typeface="Open Sans"/>
                <a:cs typeface="Open Sans"/>
                <a:sym typeface="Open Sans"/>
              </a:rPr>
              <a:t>Antibodies are immune system proteins with variable and conserved regions (CDRs &amp; FWRs)</a:t>
            </a:r>
          </a:p>
          <a:p>
            <a:pPr algn="l" marL="611884" indent="-305942" lvl="1">
              <a:lnSpc>
                <a:spcPts val="3967"/>
              </a:lnSpc>
              <a:spcBef>
                <a:spcPct val="0"/>
              </a:spcBef>
              <a:buFont typeface="Arial"/>
              <a:buChar char="•"/>
            </a:pPr>
            <a:r>
              <a:rPr lang="en-US" sz="2834" strike="noStrike" u="none">
                <a:solidFill>
                  <a:srgbClr val="FFFFFF"/>
                </a:solidFill>
                <a:latin typeface="Open Sans"/>
                <a:ea typeface="Open Sans"/>
                <a:cs typeface="Open Sans"/>
                <a:sym typeface="Open Sans"/>
              </a:rPr>
              <a:t>CDRs are r</a:t>
            </a:r>
            <a:r>
              <a:rPr lang="en-US" sz="2834" strike="noStrike" u="none">
                <a:solidFill>
                  <a:srgbClr val="FFFFFF"/>
                </a:solidFill>
                <a:latin typeface="Open Sans"/>
                <a:ea typeface="Open Sans"/>
                <a:cs typeface="Open Sans"/>
                <a:sym typeface="Open Sans"/>
              </a:rPr>
              <a:t>es</a:t>
            </a:r>
            <a:r>
              <a:rPr lang="en-US" sz="2834" strike="noStrike" u="none">
                <a:solidFill>
                  <a:srgbClr val="FFFFFF"/>
                </a:solidFill>
                <a:latin typeface="Open Sans"/>
                <a:ea typeface="Open Sans"/>
                <a:cs typeface="Open Sans"/>
                <a:sym typeface="Open Sans"/>
              </a:rPr>
              <a:t>pon</a:t>
            </a:r>
            <a:r>
              <a:rPr lang="en-US" sz="2834" strike="noStrike" u="none">
                <a:solidFill>
                  <a:srgbClr val="FFFFFF"/>
                </a:solidFill>
                <a:latin typeface="Open Sans"/>
                <a:ea typeface="Open Sans"/>
                <a:cs typeface="Open Sans"/>
                <a:sym typeface="Open Sans"/>
              </a:rPr>
              <a:t>s</a:t>
            </a:r>
            <a:r>
              <a:rPr lang="en-US" sz="2834" strike="noStrike" u="none">
                <a:solidFill>
                  <a:srgbClr val="FFFFFF"/>
                </a:solidFill>
                <a:latin typeface="Open Sans"/>
                <a:ea typeface="Open Sans"/>
                <a:cs typeface="Open Sans"/>
                <a:sym typeface="Open Sans"/>
              </a:rPr>
              <a:t>ibl</a:t>
            </a:r>
            <a:r>
              <a:rPr lang="en-US" sz="2834" strike="noStrike" u="none">
                <a:solidFill>
                  <a:srgbClr val="FFFFFF"/>
                </a:solidFill>
                <a:latin typeface="Open Sans"/>
                <a:ea typeface="Open Sans"/>
                <a:cs typeface="Open Sans"/>
                <a:sym typeface="Open Sans"/>
              </a:rPr>
              <a:t>e </a:t>
            </a:r>
            <a:r>
              <a:rPr lang="en-US" sz="2834" strike="noStrike" u="none">
                <a:solidFill>
                  <a:srgbClr val="FFFFFF"/>
                </a:solidFill>
                <a:latin typeface="Open Sans"/>
                <a:ea typeface="Open Sans"/>
                <a:cs typeface="Open Sans"/>
                <a:sym typeface="Open Sans"/>
              </a:rPr>
              <a:t>f</a:t>
            </a:r>
            <a:r>
              <a:rPr lang="en-US" sz="2834" strike="noStrike" u="none">
                <a:solidFill>
                  <a:srgbClr val="FFFFFF"/>
                </a:solidFill>
                <a:latin typeface="Open Sans"/>
                <a:ea typeface="Open Sans"/>
                <a:cs typeface="Open Sans"/>
                <a:sym typeface="Open Sans"/>
              </a:rPr>
              <a:t>or</a:t>
            </a:r>
            <a:r>
              <a:rPr lang="en-US" sz="2834" strike="noStrike" u="none">
                <a:solidFill>
                  <a:srgbClr val="FFFFFF"/>
                </a:solidFill>
                <a:latin typeface="Open Sans"/>
                <a:ea typeface="Open Sans"/>
                <a:cs typeface="Open Sans"/>
                <a:sym typeface="Open Sans"/>
              </a:rPr>
              <a:t> binding to </a:t>
            </a:r>
            <a:r>
              <a:rPr lang="en-US" sz="2834" strike="noStrike" u="none">
                <a:solidFill>
                  <a:srgbClr val="FFFFFF"/>
                </a:solidFill>
                <a:latin typeface="Open Sans"/>
                <a:ea typeface="Open Sans"/>
                <a:cs typeface="Open Sans"/>
                <a:sym typeface="Open Sans"/>
              </a:rPr>
              <a:t>a</a:t>
            </a:r>
            <a:r>
              <a:rPr lang="en-US" sz="2834" strike="noStrike" u="none">
                <a:solidFill>
                  <a:srgbClr val="FFFFFF"/>
                </a:solidFill>
                <a:latin typeface="Open Sans"/>
                <a:ea typeface="Open Sans"/>
                <a:cs typeface="Open Sans"/>
                <a:sym typeface="Open Sans"/>
              </a:rPr>
              <a:t>n</a:t>
            </a:r>
            <a:r>
              <a:rPr lang="en-US" sz="2834" strike="noStrike" u="none">
                <a:solidFill>
                  <a:srgbClr val="FFFFFF"/>
                </a:solidFill>
                <a:latin typeface="Open Sans"/>
                <a:ea typeface="Open Sans"/>
                <a:cs typeface="Open Sans"/>
                <a:sym typeface="Open Sans"/>
              </a:rPr>
              <a:t>t</a:t>
            </a:r>
            <a:r>
              <a:rPr lang="en-US" sz="2834" strike="noStrike" u="none">
                <a:solidFill>
                  <a:srgbClr val="FFFFFF"/>
                </a:solidFill>
                <a:latin typeface="Open Sans"/>
                <a:ea typeface="Open Sans"/>
                <a:cs typeface="Open Sans"/>
                <a:sym typeface="Open Sans"/>
              </a:rPr>
              <a:t>ig</a:t>
            </a:r>
            <a:r>
              <a:rPr lang="en-US" sz="2834" strike="noStrike" u="none">
                <a:solidFill>
                  <a:srgbClr val="FFFFFF"/>
                </a:solidFill>
                <a:latin typeface="Open Sans"/>
                <a:ea typeface="Open Sans"/>
                <a:cs typeface="Open Sans"/>
                <a:sym typeface="Open Sans"/>
              </a:rPr>
              <a:t>e</a:t>
            </a:r>
            <a:r>
              <a:rPr lang="en-US" sz="2834" strike="noStrike" u="none">
                <a:solidFill>
                  <a:srgbClr val="FFFFFF"/>
                </a:solidFill>
                <a:latin typeface="Open Sans"/>
                <a:ea typeface="Open Sans"/>
                <a:cs typeface="Open Sans"/>
                <a:sym typeface="Open Sans"/>
              </a:rPr>
              <a:t>ns</a:t>
            </a:r>
            <a:r>
              <a:rPr lang="en-US" sz="2834" strike="noStrike" u="none">
                <a:solidFill>
                  <a:srgbClr val="FFFFFF"/>
                </a:solidFill>
                <a:latin typeface="Open Sans"/>
                <a:ea typeface="Open Sans"/>
                <a:cs typeface="Open Sans"/>
                <a:sym typeface="Open Sans"/>
              </a:rPr>
              <a:t> and</a:t>
            </a:r>
            <a:r>
              <a:rPr lang="en-US" sz="2834" strike="noStrike" u="none">
                <a:solidFill>
                  <a:srgbClr val="FFFFFF"/>
                </a:solidFill>
                <a:latin typeface="Open Sans"/>
                <a:ea typeface="Open Sans"/>
                <a:cs typeface="Open Sans"/>
                <a:sym typeface="Open Sans"/>
              </a:rPr>
              <a:t> are</a:t>
            </a:r>
            <a:r>
              <a:rPr lang="en-US" sz="2834" strike="noStrike" u="none">
                <a:solidFill>
                  <a:srgbClr val="FFFFFF"/>
                </a:solidFill>
                <a:latin typeface="Open Sans"/>
                <a:ea typeface="Open Sans"/>
                <a:cs typeface="Open Sans"/>
                <a:sym typeface="Open Sans"/>
              </a:rPr>
              <a:t> h</a:t>
            </a:r>
            <a:r>
              <a:rPr lang="en-US" sz="2834" strike="noStrike" u="none">
                <a:solidFill>
                  <a:srgbClr val="FFFFFF"/>
                </a:solidFill>
                <a:latin typeface="Open Sans"/>
                <a:ea typeface="Open Sans"/>
                <a:cs typeface="Open Sans"/>
                <a:sym typeface="Open Sans"/>
              </a:rPr>
              <a:t>ighly variable</a:t>
            </a:r>
          </a:p>
          <a:p>
            <a:pPr algn="l" marL="611884" indent="-305942" lvl="1">
              <a:lnSpc>
                <a:spcPts val="3967"/>
              </a:lnSpc>
              <a:spcBef>
                <a:spcPct val="0"/>
              </a:spcBef>
              <a:buFont typeface="Arial"/>
              <a:buChar char="•"/>
            </a:pPr>
            <a:r>
              <a:rPr lang="en-US" sz="2834" strike="noStrike" u="none">
                <a:solidFill>
                  <a:srgbClr val="FFFFFF"/>
                </a:solidFill>
                <a:latin typeface="Open Sans"/>
                <a:ea typeface="Open Sans"/>
                <a:cs typeface="Open Sans"/>
                <a:sym typeface="Open Sans"/>
              </a:rPr>
              <a:t>FWRs maintain</a:t>
            </a:r>
            <a:r>
              <a:rPr lang="en-US" sz="2834" strike="noStrike" u="none">
                <a:solidFill>
                  <a:srgbClr val="FFFFFF"/>
                </a:solidFill>
                <a:latin typeface="Open Sans"/>
                <a:ea typeface="Open Sans"/>
                <a:cs typeface="Open Sans"/>
                <a:sym typeface="Open Sans"/>
              </a:rPr>
              <a:t> the</a:t>
            </a:r>
            <a:r>
              <a:rPr lang="en-US" sz="2834" strike="noStrike" u="none">
                <a:solidFill>
                  <a:srgbClr val="FFFFFF"/>
                </a:solidFill>
                <a:latin typeface="Open Sans"/>
                <a:ea typeface="Open Sans"/>
                <a:cs typeface="Open Sans"/>
                <a:sym typeface="Open Sans"/>
              </a:rPr>
              <a:t> antibod</a:t>
            </a:r>
            <a:r>
              <a:rPr lang="en-US" sz="2834" strike="noStrike" u="none">
                <a:solidFill>
                  <a:srgbClr val="FFFFFF"/>
                </a:solidFill>
                <a:latin typeface="Open Sans"/>
                <a:ea typeface="Open Sans"/>
                <a:cs typeface="Open Sans"/>
                <a:sym typeface="Open Sans"/>
              </a:rPr>
              <a:t>y </a:t>
            </a:r>
            <a:r>
              <a:rPr lang="en-US" sz="2834" strike="noStrike" u="none">
                <a:solidFill>
                  <a:srgbClr val="FFFFFF"/>
                </a:solidFill>
                <a:latin typeface="Open Sans"/>
                <a:ea typeface="Open Sans"/>
                <a:cs typeface="Open Sans"/>
                <a:sym typeface="Open Sans"/>
              </a:rPr>
              <a:t>structure and are more </a:t>
            </a:r>
            <a:r>
              <a:rPr lang="en-US" sz="2834" strike="noStrike" u="none">
                <a:solidFill>
                  <a:srgbClr val="FFFFFF"/>
                </a:solidFill>
                <a:latin typeface="Open Sans"/>
                <a:ea typeface="Open Sans"/>
                <a:cs typeface="Open Sans"/>
                <a:sym typeface="Open Sans"/>
              </a:rPr>
              <a:t>con</a:t>
            </a:r>
            <a:r>
              <a:rPr lang="en-US" sz="2834" strike="noStrike" u="none">
                <a:solidFill>
                  <a:srgbClr val="FFFFFF"/>
                </a:solidFill>
                <a:latin typeface="Open Sans"/>
                <a:ea typeface="Open Sans"/>
                <a:cs typeface="Open Sans"/>
                <a:sym typeface="Open Sans"/>
              </a:rPr>
              <a:t>served</a:t>
            </a:r>
          </a:p>
          <a:p>
            <a:pPr algn="l" marL="611884" indent="-305942" lvl="1">
              <a:lnSpc>
                <a:spcPts val="3967"/>
              </a:lnSpc>
              <a:spcBef>
                <a:spcPct val="0"/>
              </a:spcBef>
              <a:buFont typeface="Arial"/>
              <a:buChar char="•"/>
            </a:pPr>
            <a:r>
              <a:rPr lang="en-US" sz="2834" strike="noStrike" u="none">
                <a:solidFill>
                  <a:srgbClr val="FFFFFF"/>
                </a:solidFill>
                <a:latin typeface="Open Sans"/>
                <a:ea typeface="Open Sans"/>
                <a:cs typeface="Open Sans"/>
                <a:sym typeface="Open Sans"/>
              </a:rPr>
              <a:t>U</a:t>
            </a:r>
            <a:r>
              <a:rPr lang="en-US" sz="2834" strike="noStrike" u="none">
                <a:solidFill>
                  <a:srgbClr val="FFFFFF"/>
                </a:solidFill>
                <a:latin typeface="Open Sans"/>
                <a:ea typeface="Open Sans"/>
                <a:cs typeface="Open Sans"/>
                <a:sym typeface="Open Sans"/>
              </a:rPr>
              <a:t>n</a:t>
            </a:r>
            <a:r>
              <a:rPr lang="en-US" sz="2834" strike="noStrike" u="none">
                <a:solidFill>
                  <a:srgbClr val="FFFFFF"/>
                </a:solidFill>
                <a:latin typeface="Open Sans"/>
                <a:ea typeface="Open Sans"/>
                <a:cs typeface="Open Sans"/>
                <a:sym typeface="Open Sans"/>
              </a:rPr>
              <a:t>d</a:t>
            </a:r>
            <a:r>
              <a:rPr lang="en-US" sz="2834" strike="noStrike" u="none">
                <a:solidFill>
                  <a:srgbClr val="FFFFFF"/>
                </a:solidFill>
                <a:latin typeface="Open Sans"/>
                <a:ea typeface="Open Sans"/>
                <a:cs typeface="Open Sans"/>
                <a:sym typeface="Open Sans"/>
              </a:rPr>
              <a:t>e</a:t>
            </a:r>
            <a:r>
              <a:rPr lang="en-US" sz="2834" strike="noStrike" u="none">
                <a:solidFill>
                  <a:srgbClr val="FFFFFF"/>
                </a:solidFill>
                <a:latin typeface="Open Sans"/>
                <a:ea typeface="Open Sans"/>
                <a:cs typeface="Open Sans"/>
                <a:sym typeface="Open Sans"/>
              </a:rPr>
              <a:t>rstanding triple</a:t>
            </a:r>
            <a:r>
              <a:rPr lang="en-US" sz="2834" strike="noStrike" u="none">
                <a:solidFill>
                  <a:srgbClr val="FFFFFF"/>
                </a:solidFill>
                <a:latin typeface="Open Sans"/>
                <a:ea typeface="Open Sans"/>
                <a:cs typeface="Open Sans"/>
                <a:sym typeface="Open Sans"/>
              </a:rPr>
              <a:t>t </a:t>
            </a:r>
            <a:r>
              <a:rPr lang="en-US" sz="2834" strike="noStrike" u="none">
                <a:solidFill>
                  <a:srgbClr val="FFFFFF"/>
                </a:solidFill>
                <a:latin typeface="Open Sans"/>
                <a:ea typeface="Open Sans"/>
                <a:cs typeface="Open Sans"/>
                <a:sym typeface="Open Sans"/>
              </a:rPr>
              <a:t>var</a:t>
            </a:r>
            <a:r>
              <a:rPr lang="en-US" sz="2834" strike="noStrike" u="none">
                <a:solidFill>
                  <a:srgbClr val="FFFFFF"/>
                </a:solidFill>
                <a:latin typeface="Open Sans"/>
                <a:ea typeface="Open Sans"/>
                <a:cs typeface="Open Sans"/>
                <a:sym typeface="Open Sans"/>
              </a:rPr>
              <a:t>i</a:t>
            </a:r>
            <a:r>
              <a:rPr lang="en-US" sz="2834" strike="noStrike" u="none">
                <a:solidFill>
                  <a:srgbClr val="FFFFFF"/>
                </a:solidFill>
                <a:latin typeface="Open Sans"/>
                <a:ea typeface="Open Sans"/>
                <a:cs typeface="Open Sans"/>
                <a:sym typeface="Open Sans"/>
              </a:rPr>
              <a:t>a</a:t>
            </a:r>
            <a:r>
              <a:rPr lang="en-US" sz="2834" strike="noStrike" u="none">
                <a:solidFill>
                  <a:srgbClr val="FFFFFF"/>
                </a:solidFill>
                <a:latin typeface="Open Sans"/>
                <a:ea typeface="Open Sans"/>
                <a:cs typeface="Open Sans"/>
                <a:sym typeface="Open Sans"/>
              </a:rPr>
              <a:t>t</a:t>
            </a:r>
            <a:r>
              <a:rPr lang="en-US" sz="2834" strike="noStrike" u="none">
                <a:solidFill>
                  <a:srgbClr val="FFFFFF"/>
                </a:solidFill>
                <a:latin typeface="Open Sans"/>
                <a:ea typeface="Open Sans"/>
                <a:cs typeface="Open Sans"/>
                <a:sym typeface="Open Sans"/>
              </a:rPr>
              <a:t>ion at</a:t>
            </a:r>
            <a:r>
              <a:rPr lang="en-US" sz="2834" strike="noStrike" u="none">
                <a:solidFill>
                  <a:srgbClr val="FFFFFF"/>
                </a:solidFill>
                <a:latin typeface="Open Sans"/>
                <a:ea typeface="Open Sans"/>
                <a:cs typeface="Open Sans"/>
                <a:sym typeface="Open Sans"/>
              </a:rPr>
              <a:t> the </a:t>
            </a:r>
            <a:r>
              <a:rPr lang="en-US" sz="2834" strike="noStrike" u="none">
                <a:solidFill>
                  <a:srgbClr val="FFFFFF"/>
                </a:solidFill>
                <a:latin typeface="Open Sans"/>
                <a:ea typeface="Open Sans"/>
                <a:cs typeface="Open Sans"/>
                <a:sym typeface="Open Sans"/>
              </a:rPr>
              <a:t>amin</a:t>
            </a:r>
            <a:r>
              <a:rPr lang="en-US" sz="2834" strike="noStrike" u="none">
                <a:solidFill>
                  <a:srgbClr val="FFFFFF"/>
                </a:solidFill>
                <a:latin typeface="Open Sans"/>
                <a:ea typeface="Open Sans"/>
                <a:cs typeface="Open Sans"/>
                <a:sym typeface="Open Sans"/>
              </a:rPr>
              <a:t>o</a:t>
            </a:r>
            <a:r>
              <a:rPr lang="en-US" sz="2834" strike="noStrike" u="none">
                <a:solidFill>
                  <a:srgbClr val="FFFFFF"/>
                </a:solidFill>
                <a:latin typeface="Open Sans"/>
                <a:ea typeface="Open Sans"/>
                <a:cs typeface="Open Sans"/>
                <a:sym typeface="Open Sans"/>
              </a:rPr>
              <a:t> acid level </a:t>
            </a:r>
            <a:r>
              <a:rPr lang="en-US" sz="2834" strike="noStrike" u="none">
                <a:solidFill>
                  <a:srgbClr val="FFFFFF"/>
                </a:solidFill>
                <a:latin typeface="Open Sans"/>
                <a:ea typeface="Open Sans"/>
                <a:cs typeface="Open Sans"/>
                <a:sym typeface="Open Sans"/>
              </a:rPr>
              <a:t>r</a:t>
            </a:r>
            <a:r>
              <a:rPr lang="en-US" sz="2834" strike="noStrike" u="none">
                <a:solidFill>
                  <a:srgbClr val="FFFFFF"/>
                </a:solidFill>
                <a:latin typeface="Open Sans"/>
                <a:ea typeface="Open Sans"/>
                <a:cs typeface="Open Sans"/>
                <a:sym typeface="Open Sans"/>
              </a:rPr>
              <a:t>evea</a:t>
            </a:r>
            <a:r>
              <a:rPr lang="en-US" sz="2834" strike="noStrike" u="none">
                <a:solidFill>
                  <a:srgbClr val="FFFFFF"/>
                </a:solidFill>
                <a:latin typeface="Open Sans"/>
                <a:ea typeface="Open Sans"/>
                <a:cs typeface="Open Sans"/>
                <a:sym typeface="Open Sans"/>
              </a:rPr>
              <a:t>l</a:t>
            </a:r>
            <a:r>
              <a:rPr lang="en-US" sz="2834" strike="noStrike" u="none">
                <a:solidFill>
                  <a:srgbClr val="FFFFFF"/>
                </a:solidFill>
                <a:latin typeface="Open Sans"/>
                <a:ea typeface="Open Sans"/>
                <a:cs typeface="Open Sans"/>
                <a:sym typeface="Open Sans"/>
              </a:rPr>
              <a:t>s </a:t>
            </a:r>
            <a:r>
              <a:rPr lang="en-US" sz="2834" strike="noStrike" u="none">
                <a:solidFill>
                  <a:srgbClr val="FFFFFF"/>
                </a:solidFill>
                <a:latin typeface="Open Sans"/>
                <a:ea typeface="Open Sans"/>
                <a:cs typeface="Open Sans"/>
                <a:sym typeface="Open Sans"/>
              </a:rPr>
              <a:t>d</a:t>
            </a:r>
            <a:r>
              <a:rPr lang="en-US" sz="2834" strike="noStrike" u="none">
                <a:solidFill>
                  <a:srgbClr val="FFFFFF"/>
                </a:solidFill>
                <a:latin typeface="Open Sans"/>
                <a:ea typeface="Open Sans"/>
                <a:cs typeface="Open Sans"/>
                <a:sym typeface="Open Sans"/>
              </a:rPr>
              <a:t>ifferences in immune response</a:t>
            </a:r>
          </a:p>
          <a:p>
            <a:pPr algn="l" marL="0" indent="0" lvl="0">
              <a:lnSpc>
                <a:spcPts val="396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15877799" y="-1625565"/>
            <a:ext cx="4195722" cy="4305311"/>
          </a:xfrm>
          <a:custGeom>
            <a:avLst/>
            <a:gdLst/>
            <a:ahLst/>
            <a:cxnLst/>
            <a:rect r="r" b="b" t="t" l="l"/>
            <a:pathLst>
              <a:path h="4305311" w="4195722">
                <a:moveTo>
                  <a:pt x="0" y="0"/>
                </a:moveTo>
                <a:lnTo>
                  <a:pt x="4195722" y="0"/>
                </a:lnTo>
                <a:lnTo>
                  <a:pt x="4195722" y="4305311"/>
                </a:lnTo>
                <a:lnTo>
                  <a:pt x="0" y="43053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705495" y="7729961"/>
            <a:ext cx="4195722" cy="4305311"/>
          </a:xfrm>
          <a:custGeom>
            <a:avLst/>
            <a:gdLst/>
            <a:ahLst/>
            <a:cxnLst/>
            <a:rect r="r" b="b" t="t" l="l"/>
            <a:pathLst>
              <a:path h="4305311" w="4195722">
                <a:moveTo>
                  <a:pt x="0" y="0"/>
                </a:moveTo>
                <a:lnTo>
                  <a:pt x="4195722" y="0"/>
                </a:lnTo>
                <a:lnTo>
                  <a:pt x="4195722" y="4305312"/>
                </a:lnTo>
                <a:lnTo>
                  <a:pt x="0" y="4305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174729" y="2679746"/>
            <a:ext cx="7403183" cy="4571465"/>
          </a:xfrm>
          <a:custGeom>
            <a:avLst/>
            <a:gdLst/>
            <a:ahLst/>
            <a:cxnLst/>
            <a:rect r="r" b="b" t="t" l="l"/>
            <a:pathLst>
              <a:path h="4571465" w="7403183">
                <a:moveTo>
                  <a:pt x="0" y="0"/>
                </a:moveTo>
                <a:lnTo>
                  <a:pt x="7403182" y="0"/>
                </a:lnTo>
                <a:lnTo>
                  <a:pt x="7403182" y="4571465"/>
                </a:lnTo>
                <a:lnTo>
                  <a:pt x="0" y="4571465"/>
                </a:lnTo>
                <a:lnTo>
                  <a:pt x="0" y="0"/>
                </a:lnTo>
                <a:close/>
              </a:path>
            </a:pathLst>
          </a:custGeom>
          <a:blipFill>
            <a:blip r:embed="rId5"/>
            <a:stretch>
              <a:fillRect l="0" t="0" r="0" b="0"/>
            </a:stretch>
          </a:blipFill>
        </p:spPr>
      </p:sp>
      <p:sp>
        <p:nvSpPr>
          <p:cNvPr name="TextBox 5" id="5"/>
          <p:cNvSpPr txBox="true"/>
          <p:nvPr/>
        </p:nvSpPr>
        <p:spPr>
          <a:xfrm rot="0">
            <a:off x="2641786" y="508377"/>
            <a:ext cx="4841060" cy="1120775"/>
          </a:xfrm>
          <a:prstGeom prst="rect">
            <a:avLst/>
          </a:prstGeom>
        </p:spPr>
        <p:txBody>
          <a:bodyPr anchor="t" rtlCol="false" tIns="0" lIns="0" bIns="0" rIns="0">
            <a:spAutoFit/>
          </a:bodyPr>
          <a:lstStyle/>
          <a:p>
            <a:pPr algn="ctr"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M</a:t>
            </a:r>
            <a:r>
              <a:rPr lang="en-US" b="true" sz="6500" strike="noStrike" u="none">
                <a:solidFill>
                  <a:srgbClr val="FFFFFF"/>
                </a:solidFill>
                <a:latin typeface="TT Supermolot Neue Bold"/>
                <a:ea typeface="TT Supermolot Neue Bold"/>
                <a:cs typeface="TT Supermolot Neue Bold"/>
                <a:sym typeface="TT Supermolot Neue Bold"/>
              </a:rPr>
              <a:t>otivation</a:t>
            </a:r>
          </a:p>
        </p:txBody>
      </p:sp>
      <p:sp>
        <p:nvSpPr>
          <p:cNvPr name="TextBox 6" id="6"/>
          <p:cNvSpPr txBox="true"/>
          <p:nvPr/>
        </p:nvSpPr>
        <p:spPr>
          <a:xfrm rot="0">
            <a:off x="578734" y="1756777"/>
            <a:ext cx="9345805" cy="4437908"/>
          </a:xfrm>
          <a:prstGeom prst="rect">
            <a:avLst/>
          </a:prstGeom>
        </p:spPr>
        <p:txBody>
          <a:bodyPr anchor="t" rtlCol="false" tIns="0" lIns="0" bIns="0" rIns="0">
            <a:spAutoFit/>
          </a:bodyPr>
          <a:lstStyle/>
          <a:p>
            <a:pPr algn="l">
              <a:lnSpc>
                <a:spcPts val="5071"/>
              </a:lnSpc>
              <a:spcBef>
                <a:spcPct val="0"/>
              </a:spcBef>
            </a:pPr>
          </a:p>
          <a:p>
            <a:pPr algn="l" marL="782108" indent="-391054" lvl="1">
              <a:lnSpc>
                <a:spcPts val="5071"/>
              </a:lnSpc>
              <a:spcBef>
                <a:spcPct val="0"/>
              </a:spcBef>
              <a:buFont typeface="Arial"/>
              <a:buChar char="•"/>
            </a:pPr>
            <a:r>
              <a:rPr lang="en-US" sz="3622" strike="noStrike" u="none">
                <a:solidFill>
                  <a:srgbClr val="FFFFFF"/>
                </a:solidFill>
                <a:latin typeface="Open Sans"/>
                <a:ea typeface="Open Sans"/>
                <a:cs typeface="Open Sans"/>
                <a:sym typeface="Open Sans"/>
              </a:rPr>
              <a:t>U</a:t>
            </a:r>
            <a:r>
              <a:rPr lang="en-US" sz="3622" strike="noStrike" u="none">
                <a:solidFill>
                  <a:srgbClr val="FFFFFF"/>
                </a:solidFill>
                <a:latin typeface="Open Sans"/>
                <a:ea typeface="Open Sans"/>
                <a:cs typeface="Open Sans"/>
                <a:sym typeface="Open Sans"/>
              </a:rPr>
              <a:t>nderstanding how antibody diversity develops, n</a:t>
            </a:r>
            <a:r>
              <a:rPr lang="en-US" sz="3622" strike="noStrike" u="none">
                <a:solidFill>
                  <a:srgbClr val="FFFFFF"/>
                </a:solidFill>
                <a:latin typeface="Open Sans"/>
                <a:ea typeface="Open Sans"/>
                <a:cs typeface="Open Sans"/>
                <a:sym typeface="Open Sans"/>
              </a:rPr>
              <a:t>ot</a:t>
            </a:r>
            <a:r>
              <a:rPr lang="en-US" sz="3622" strike="noStrike" u="none">
                <a:solidFill>
                  <a:srgbClr val="FFFFFF"/>
                </a:solidFill>
                <a:latin typeface="Open Sans"/>
                <a:ea typeface="Open Sans"/>
                <a:cs typeface="Open Sans"/>
                <a:sym typeface="Open Sans"/>
              </a:rPr>
              <a:t> just wh</a:t>
            </a:r>
            <a:r>
              <a:rPr lang="en-US" sz="3622" strike="noStrike" u="none">
                <a:solidFill>
                  <a:srgbClr val="FFFFFF"/>
                </a:solidFill>
                <a:latin typeface="Open Sans"/>
                <a:ea typeface="Open Sans"/>
                <a:cs typeface="Open Sans"/>
                <a:sym typeface="Open Sans"/>
              </a:rPr>
              <a:t>at t</a:t>
            </a:r>
            <a:r>
              <a:rPr lang="en-US" sz="3622" strike="noStrike" u="none">
                <a:solidFill>
                  <a:srgbClr val="FFFFFF"/>
                </a:solidFill>
                <a:latin typeface="Open Sans"/>
                <a:ea typeface="Open Sans"/>
                <a:cs typeface="Open Sans"/>
                <a:sym typeface="Open Sans"/>
              </a:rPr>
              <a:t>h</a:t>
            </a:r>
            <a:r>
              <a:rPr lang="en-US" sz="3622" strike="noStrike" u="none">
                <a:solidFill>
                  <a:srgbClr val="FFFFFF"/>
                </a:solidFill>
                <a:latin typeface="Open Sans"/>
                <a:ea typeface="Open Sans"/>
                <a:cs typeface="Open Sans"/>
                <a:sym typeface="Open Sans"/>
              </a:rPr>
              <a:t>e</a:t>
            </a:r>
            <a:r>
              <a:rPr lang="en-US" sz="3622" strike="noStrike" u="none">
                <a:solidFill>
                  <a:srgbClr val="FFFFFF"/>
                </a:solidFill>
                <a:latin typeface="Open Sans"/>
                <a:ea typeface="Open Sans"/>
                <a:cs typeface="Open Sans"/>
                <a:sym typeface="Open Sans"/>
              </a:rPr>
              <a:t> final seque</a:t>
            </a:r>
            <a:r>
              <a:rPr lang="en-US" sz="3622" strike="noStrike" u="none">
                <a:solidFill>
                  <a:srgbClr val="FFFFFF"/>
                </a:solidFill>
                <a:latin typeface="Open Sans"/>
                <a:ea typeface="Open Sans"/>
                <a:cs typeface="Open Sans"/>
                <a:sym typeface="Open Sans"/>
              </a:rPr>
              <a:t>nc</a:t>
            </a:r>
            <a:r>
              <a:rPr lang="en-US" sz="3622" strike="noStrike" u="none">
                <a:solidFill>
                  <a:srgbClr val="FFFFFF"/>
                </a:solidFill>
                <a:latin typeface="Open Sans"/>
                <a:ea typeface="Open Sans"/>
                <a:cs typeface="Open Sans"/>
                <a:sym typeface="Open Sans"/>
              </a:rPr>
              <a:t>es </a:t>
            </a:r>
            <a:r>
              <a:rPr lang="en-US" sz="3622" strike="noStrike" u="none">
                <a:solidFill>
                  <a:srgbClr val="FFFFFF"/>
                </a:solidFill>
                <a:latin typeface="Open Sans"/>
                <a:ea typeface="Open Sans"/>
                <a:cs typeface="Open Sans"/>
                <a:sym typeface="Open Sans"/>
              </a:rPr>
              <a:t>l</a:t>
            </a:r>
            <a:r>
              <a:rPr lang="en-US" sz="3622" strike="noStrike" u="none">
                <a:solidFill>
                  <a:srgbClr val="FFFFFF"/>
                </a:solidFill>
                <a:latin typeface="Open Sans"/>
                <a:ea typeface="Open Sans"/>
                <a:cs typeface="Open Sans"/>
                <a:sym typeface="Open Sans"/>
              </a:rPr>
              <a:t>ook like</a:t>
            </a:r>
          </a:p>
          <a:p>
            <a:pPr algn="l" marL="782108" indent="-391054" lvl="1">
              <a:lnSpc>
                <a:spcPts val="5071"/>
              </a:lnSpc>
              <a:spcBef>
                <a:spcPct val="0"/>
              </a:spcBef>
              <a:buFont typeface="Arial"/>
              <a:buChar char="•"/>
            </a:pPr>
            <a:r>
              <a:rPr lang="en-US" sz="3622" strike="noStrike" u="none">
                <a:solidFill>
                  <a:srgbClr val="FFFFFF"/>
                </a:solidFill>
                <a:latin typeface="Open Sans"/>
                <a:ea typeface="Open Sans"/>
                <a:cs typeface="Open Sans"/>
                <a:sym typeface="Open Sans"/>
              </a:rPr>
              <a:t>Foc</a:t>
            </a:r>
            <a:r>
              <a:rPr lang="en-US" sz="3622" strike="noStrike" u="none">
                <a:solidFill>
                  <a:srgbClr val="FFFFFF"/>
                </a:solidFill>
                <a:latin typeface="Open Sans"/>
                <a:ea typeface="Open Sans"/>
                <a:cs typeface="Open Sans"/>
                <a:sym typeface="Open Sans"/>
              </a:rPr>
              <a:t>u</a:t>
            </a:r>
            <a:r>
              <a:rPr lang="en-US" sz="3622" strike="noStrike" u="none">
                <a:solidFill>
                  <a:srgbClr val="FFFFFF"/>
                </a:solidFill>
                <a:latin typeface="Open Sans"/>
                <a:ea typeface="Open Sans"/>
                <a:cs typeface="Open Sans"/>
                <a:sym typeface="Open Sans"/>
              </a:rPr>
              <a:t>s</a:t>
            </a:r>
            <a:r>
              <a:rPr lang="en-US" sz="3622" strike="noStrike" u="none">
                <a:solidFill>
                  <a:srgbClr val="FFFFFF"/>
                </a:solidFill>
                <a:latin typeface="Open Sans"/>
                <a:ea typeface="Open Sans"/>
                <a:cs typeface="Open Sans"/>
                <a:sym typeface="Open Sans"/>
              </a:rPr>
              <a:t>ing </a:t>
            </a:r>
            <a:r>
              <a:rPr lang="en-US" sz="3622" strike="noStrike" u="none">
                <a:solidFill>
                  <a:srgbClr val="FFFFFF"/>
                </a:solidFill>
                <a:latin typeface="Open Sans"/>
                <a:ea typeface="Open Sans"/>
                <a:cs typeface="Open Sans"/>
                <a:sym typeface="Open Sans"/>
              </a:rPr>
              <a:t>on </a:t>
            </a:r>
            <a:r>
              <a:rPr lang="en-US" sz="3622" strike="noStrike" u="none">
                <a:solidFill>
                  <a:srgbClr val="FFFFFF"/>
                </a:solidFill>
                <a:latin typeface="Open Sans"/>
                <a:ea typeface="Open Sans"/>
                <a:cs typeface="Open Sans"/>
                <a:sym typeface="Open Sans"/>
              </a:rPr>
              <a:t>t</a:t>
            </a:r>
            <a:r>
              <a:rPr lang="en-US" sz="3622" strike="noStrike" u="none">
                <a:solidFill>
                  <a:srgbClr val="FFFFFF"/>
                </a:solidFill>
                <a:latin typeface="Open Sans"/>
                <a:ea typeface="Open Sans"/>
                <a:cs typeface="Open Sans"/>
                <a:sym typeface="Open Sans"/>
              </a:rPr>
              <a:t>he p</a:t>
            </a:r>
            <a:r>
              <a:rPr lang="en-US" sz="3622" strike="noStrike" u="none">
                <a:solidFill>
                  <a:srgbClr val="FFFFFF"/>
                </a:solidFill>
                <a:latin typeface="Open Sans"/>
                <a:ea typeface="Open Sans"/>
                <a:cs typeface="Open Sans"/>
                <a:sym typeface="Open Sans"/>
              </a:rPr>
              <a:t>r</a:t>
            </a:r>
            <a:r>
              <a:rPr lang="en-US" sz="3622" strike="noStrike" u="none">
                <a:solidFill>
                  <a:srgbClr val="FFFFFF"/>
                </a:solidFill>
                <a:latin typeface="Open Sans"/>
                <a:ea typeface="Open Sans"/>
                <a:cs typeface="Open Sans"/>
                <a:sym typeface="Open Sans"/>
              </a:rPr>
              <a:t>oc</a:t>
            </a:r>
            <a:r>
              <a:rPr lang="en-US" sz="3622" strike="noStrike" u="none">
                <a:solidFill>
                  <a:srgbClr val="FFFFFF"/>
                </a:solidFill>
                <a:latin typeface="Open Sans"/>
                <a:ea typeface="Open Sans"/>
                <a:cs typeface="Open Sans"/>
                <a:sym typeface="Open Sans"/>
              </a:rPr>
              <a:t>ess can help reveal hidden patterns and guide ne</a:t>
            </a:r>
            <a:r>
              <a:rPr lang="en-US" sz="3622" strike="noStrike" u="none">
                <a:solidFill>
                  <a:srgbClr val="FFFFFF"/>
                </a:solidFill>
                <a:latin typeface="Open Sans"/>
                <a:ea typeface="Open Sans"/>
                <a:cs typeface="Open Sans"/>
                <a:sym typeface="Open Sans"/>
              </a:rPr>
              <a:t>w</a:t>
            </a:r>
            <a:r>
              <a:rPr lang="en-US" sz="3622" strike="noStrike" u="none">
                <a:solidFill>
                  <a:srgbClr val="FFFFFF"/>
                </a:solidFill>
                <a:latin typeface="Open Sans"/>
                <a:ea typeface="Open Sans"/>
                <a:cs typeface="Open Sans"/>
                <a:sym typeface="Open Sans"/>
              </a:rPr>
              <a:t> insights </a:t>
            </a:r>
            <a:r>
              <a:rPr lang="en-US" sz="3622" strike="noStrike" u="none">
                <a:solidFill>
                  <a:srgbClr val="FFFFFF"/>
                </a:solidFill>
                <a:latin typeface="Open Sans"/>
                <a:ea typeface="Open Sans"/>
                <a:cs typeface="Open Sans"/>
                <a:sym typeface="Open Sans"/>
              </a:rPr>
              <a:t>i</a:t>
            </a:r>
            <a:r>
              <a:rPr lang="en-US" sz="3622" strike="noStrike" u="none">
                <a:solidFill>
                  <a:srgbClr val="FFFFFF"/>
                </a:solidFill>
                <a:latin typeface="Open Sans"/>
                <a:ea typeface="Open Sans"/>
                <a:cs typeface="Open Sans"/>
                <a:sym typeface="Open Sans"/>
              </a:rPr>
              <a:t>nt</a:t>
            </a:r>
            <a:r>
              <a:rPr lang="en-US" sz="3622" strike="noStrike" u="none">
                <a:solidFill>
                  <a:srgbClr val="FFFFFF"/>
                </a:solidFill>
                <a:latin typeface="Open Sans"/>
                <a:ea typeface="Open Sans"/>
                <a:cs typeface="Open Sans"/>
                <a:sym typeface="Open Sans"/>
              </a:rPr>
              <a:t>o</a:t>
            </a:r>
            <a:r>
              <a:rPr lang="en-US" sz="3622" strike="noStrike" u="none">
                <a:solidFill>
                  <a:srgbClr val="FFFFFF"/>
                </a:solidFill>
                <a:latin typeface="Open Sans"/>
                <a:ea typeface="Open Sans"/>
                <a:cs typeface="Open Sans"/>
                <a:sym typeface="Open Sans"/>
              </a:rPr>
              <a:t> immune </a:t>
            </a:r>
            <a:r>
              <a:rPr lang="en-US" sz="3622" strike="noStrike" u="none">
                <a:solidFill>
                  <a:srgbClr val="FFFFFF"/>
                </a:solidFill>
                <a:latin typeface="Open Sans"/>
                <a:ea typeface="Open Sans"/>
                <a:cs typeface="Open Sans"/>
                <a:sym typeface="Open Sans"/>
              </a:rPr>
              <a:t>behav</a:t>
            </a:r>
            <a:r>
              <a:rPr lang="en-US" sz="3622" strike="noStrike" u="none">
                <a:solidFill>
                  <a:srgbClr val="FFFFFF"/>
                </a:solidFill>
                <a:latin typeface="Open Sans"/>
                <a:ea typeface="Open Sans"/>
                <a:cs typeface="Open Sans"/>
                <a:sym typeface="Open Sans"/>
              </a:rPr>
              <a:t>i</a:t>
            </a:r>
            <a:r>
              <a:rPr lang="en-US" sz="3622" strike="noStrike" u="none">
                <a:solidFill>
                  <a:srgbClr val="FFFFFF"/>
                </a:solidFill>
                <a:latin typeface="Open Sans"/>
                <a:ea typeface="Open Sans"/>
                <a:cs typeface="Open Sans"/>
                <a:sym typeface="Open Sans"/>
              </a:rPr>
              <a:t>o</a:t>
            </a:r>
            <a:r>
              <a:rPr lang="en-US" sz="3622" strike="noStrike" u="none">
                <a:solidFill>
                  <a:srgbClr val="FFFFFF"/>
                </a:solidFill>
                <a:latin typeface="Open Sans"/>
                <a:ea typeface="Open Sans"/>
                <a:cs typeface="Open Sans"/>
                <a:sym typeface="Open Sans"/>
              </a:rPr>
              <a:t>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TextBox 2" id="2"/>
          <p:cNvSpPr txBox="true"/>
          <p:nvPr/>
        </p:nvSpPr>
        <p:spPr>
          <a:xfrm rot="0">
            <a:off x="683795" y="2879227"/>
            <a:ext cx="9536741" cy="3135470"/>
          </a:xfrm>
          <a:prstGeom prst="rect">
            <a:avLst/>
          </a:prstGeom>
        </p:spPr>
        <p:txBody>
          <a:bodyPr anchor="t" rtlCol="false" tIns="0" lIns="0" bIns="0" rIns="0">
            <a:spAutoFit/>
          </a:bodyPr>
          <a:lstStyle/>
          <a:p>
            <a:pPr algn="l" marL="638384" indent="-319192" lvl="1">
              <a:lnSpc>
                <a:spcPts val="4139"/>
              </a:lnSpc>
              <a:spcBef>
                <a:spcPct val="0"/>
              </a:spcBef>
              <a:buFont typeface="Arial"/>
              <a:buChar char="•"/>
            </a:pPr>
            <a:r>
              <a:rPr lang="en-US" sz="2956" strike="noStrike" u="none">
                <a:solidFill>
                  <a:srgbClr val="FFFFFF"/>
                </a:solidFill>
                <a:latin typeface="Open Sans"/>
                <a:ea typeface="Open Sans"/>
                <a:cs typeface="Open Sans"/>
                <a:sym typeface="Open Sans"/>
              </a:rPr>
              <a:t>Traditional tools rely on full-sequence alignment and miss local variation</a:t>
            </a:r>
          </a:p>
          <a:p>
            <a:pPr algn="l" marL="638384" indent="-319192" lvl="1">
              <a:lnSpc>
                <a:spcPts val="4139"/>
              </a:lnSpc>
              <a:spcBef>
                <a:spcPct val="0"/>
              </a:spcBef>
              <a:buFont typeface="Arial"/>
              <a:buChar char="•"/>
            </a:pPr>
            <a:r>
              <a:rPr lang="en-US" sz="2956" strike="noStrike" u="none">
                <a:solidFill>
                  <a:srgbClr val="FFFFFF"/>
                </a:solidFill>
                <a:latin typeface="Open Sans"/>
                <a:ea typeface="Open Sans"/>
                <a:cs typeface="Open Sans"/>
                <a:sym typeface="Open Sans"/>
              </a:rPr>
              <a:t>PROSTAlign uses deep learning embeddings to align remote protein sequences</a:t>
            </a:r>
          </a:p>
          <a:p>
            <a:pPr algn="l" marL="638384" indent="-319192" lvl="1">
              <a:lnSpc>
                <a:spcPts val="4139"/>
              </a:lnSpc>
              <a:spcBef>
                <a:spcPct val="0"/>
              </a:spcBef>
              <a:buFont typeface="Arial"/>
              <a:buChar char="•"/>
            </a:pPr>
            <a:r>
              <a:rPr lang="en-US" sz="2956" strike="noStrike" u="none">
                <a:solidFill>
                  <a:srgbClr val="FFFFFF"/>
                </a:solidFill>
                <a:latin typeface="Open Sans"/>
                <a:ea typeface="Open Sans"/>
                <a:cs typeface="Open Sans"/>
                <a:sym typeface="Open Sans"/>
              </a:rPr>
              <a:t>No existing tool vis</a:t>
            </a:r>
            <a:r>
              <a:rPr lang="en-US" sz="2956" strike="noStrike" u="none">
                <a:solidFill>
                  <a:srgbClr val="FFFFFF"/>
                </a:solidFill>
                <a:latin typeface="Open Sans"/>
                <a:ea typeface="Open Sans"/>
                <a:cs typeface="Open Sans"/>
                <a:sym typeface="Open Sans"/>
              </a:rPr>
              <a:t>ua</a:t>
            </a:r>
            <a:r>
              <a:rPr lang="en-US" sz="2956" strike="noStrike" u="none">
                <a:solidFill>
                  <a:srgbClr val="FFFFFF"/>
                </a:solidFill>
                <a:latin typeface="Open Sans"/>
                <a:ea typeface="Open Sans"/>
                <a:cs typeface="Open Sans"/>
                <a:sym typeface="Open Sans"/>
              </a:rPr>
              <a:t>lizes </a:t>
            </a:r>
            <a:r>
              <a:rPr lang="en-US" sz="2956" strike="noStrike" u="none">
                <a:solidFill>
                  <a:srgbClr val="FFFFFF"/>
                </a:solidFill>
                <a:latin typeface="Open Sans"/>
                <a:ea typeface="Open Sans"/>
                <a:cs typeface="Open Sans"/>
                <a:sym typeface="Open Sans"/>
              </a:rPr>
              <a:t>t</a:t>
            </a:r>
            <a:r>
              <a:rPr lang="en-US" sz="2956" strike="noStrike" u="none">
                <a:solidFill>
                  <a:srgbClr val="FFFFFF"/>
                </a:solidFill>
                <a:latin typeface="Open Sans"/>
                <a:ea typeface="Open Sans"/>
                <a:cs typeface="Open Sans"/>
                <a:sym typeface="Open Sans"/>
              </a:rPr>
              <a:t>riplet simila</a:t>
            </a:r>
            <a:r>
              <a:rPr lang="en-US" sz="2956" strike="noStrike" u="none">
                <a:solidFill>
                  <a:srgbClr val="FFFFFF"/>
                </a:solidFill>
                <a:latin typeface="Open Sans"/>
                <a:ea typeface="Open Sans"/>
                <a:cs typeface="Open Sans"/>
                <a:sym typeface="Open Sans"/>
              </a:rPr>
              <a:t>ri</a:t>
            </a:r>
            <a:r>
              <a:rPr lang="en-US" sz="2956" strike="noStrike" u="none">
                <a:solidFill>
                  <a:srgbClr val="FFFFFF"/>
                </a:solidFill>
                <a:latin typeface="Open Sans"/>
                <a:ea typeface="Open Sans"/>
                <a:cs typeface="Open Sans"/>
                <a:sym typeface="Open Sans"/>
              </a:rPr>
              <a:t>ty </a:t>
            </a:r>
            <a:r>
              <a:rPr lang="en-US" sz="2956" strike="noStrike" u="none">
                <a:solidFill>
                  <a:srgbClr val="FFFFFF"/>
                </a:solidFill>
                <a:latin typeface="Open Sans"/>
                <a:ea typeface="Open Sans"/>
                <a:cs typeface="Open Sans"/>
                <a:sym typeface="Open Sans"/>
              </a:rPr>
              <a:t>n</a:t>
            </a:r>
            <a:r>
              <a:rPr lang="en-US" sz="2956" strike="noStrike" u="none">
                <a:solidFill>
                  <a:srgbClr val="FFFFFF"/>
                </a:solidFill>
                <a:latin typeface="Open Sans"/>
                <a:ea typeface="Open Sans"/>
                <a:cs typeface="Open Sans"/>
                <a:sym typeface="Open Sans"/>
              </a:rPr>
              <a:t>etworks or </a:t>
            </a:r>
            <a:r>
              <a:rPr lang="en-US" sz="2956" strike="noStrike" u="none">
                <a:solidFill>
                  <a:srgbClr val="FFFFFF"/>
                </a:solidFill>
                <a:latin typeface="Open Sans"/>
                <a:ea typeface="Open Sans"/>
                <a:cs typeface="Open Sans"/>
                <a:sym typeface="Open Sans"/>
              </a:rPr>
              <a:t>g</a:t>
            </a:r>
            <a:r>
              <a:rPr lang="en-US" sz="2956" strike="noStrike" u="none">
                <a:solidFill>
                  <a:srgbClr val="FFFFFF"/>
                </a:solidFill>
                <a:latin typeface="Open Sans"/>
                <a:ea typeface="Open Sans"/>
                <a:cs typeface="Open Sans"/>
                <a:sym typeface="Open Sans"/>
              </a:rPr>
              <a:t>roup-level profiles</a:t>
            </a:r>
          </a:p>
        </p:txBody>
      </p:sp>
      <p:sp>
        <p:nvSpPr>
          <p:cNvPr name="Freeform 3" id="3"/>
          <p:cNvSpPr/>
          <p:nvPr/>
        </p:nvSpPr>
        <p:spPr>
          <a:xfrm flipH="false" flipV="false" rot="0">
            <a:off x="14732504" y="-3128582"/>
            <a:ext cx="6097891" cy="6257165"/>
          </a:xfrm>
          <a:custGeom>
            <a:avLst/>
            <a:gdLst/>
            <a:ahLst/>
            <a:cxnLst/>
            <a:rect r="r" b="b" t="t" l="l"/>
            <a:pathLst>
              <a:path h="6257165" w="6097891">
                <a:moveTo>
                  <a:pt x="0" y="0"/>
                </a:moveTo>
                <a:lnTo>
                  <a:pt x="6097892" y="0"/>
                </a:lnTo>
                <a:lnTo>
                  <a:pt x="6097892" y="6257164"/>
                </a:lnTo>
                <a:lnTo>
                  <a:pt x="0" y="625716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365151" y="7158418"/>
            <a:ext cx="6097891" cy="6257165"/>
          </a:xfrm>
          <a:custGeom>
            <a:avLst/>
            <a:gdLst/>
            <a:ahLst/>
            <a:cxnLst/>
            <a:rect r="r" b="b" t="t" l="l"/>
            <a:pathLst>
              <a:path h="6257165" w="6097891">
                <a:moveTo>
                  <a:pt x="0" y="0"/>
                </a:moveTo>
                <a:lnTo>
                  <a:pt x="6097891" y="0"/>
                </a:lnTo>
                <a:lnTo>
                  <a:pt x="6097891" y="6257164"/>
                </a:lnTo>
                <a:lnTo>
                  <a:pt x="0" y="625716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916731" y="2503386"/>
            <a:ext cx="6211501" cy="3944303"/>
          </a:xfrm>
          <a:custGeom>
            <a:avLst/>
            <a:gdLst/>
            <a:ahLst/>
            <a:cxnLst/>
            <a:rect r="r" b="b" t="t" l="l"/>
            <a:pathLst>
              <a:path h="3944303" w="6211501">
                <a:moveTo>
                  <a:pt x="0" y="0"/>
                </a:moveTo>
                <a:lnTo>
                  <a:pt x="6211500" y="0"/>
                </a:lnTo>
                <a:lnTo>
                  <a:pt x="6211500" y="3944302"/>
                </a:lnTo>
                <a:lnTo>
                  <a:pt x="0" y="3944302"/>
                </a:lnTo>
                <a:lnTo>
                  <a:pt x="0" y="0"/>
                </a:lnTo>
                <a:close/>
              </a:path>
            </a:pathLst>
          </a:custGeom>
          <a:blipFill>
            <a:blip r:embed="rId4"/>
            <a:stretch>
              <a:fillRect l="0" t="0" r="0" b="0"/>
            </a:stretch>
          </a:blipFill>
        </p:spPr>
      </p:sp>
      <p:sp>
        <p:nvSpPr>
          <p:cNvPr name="TextBox 6" id="6"/>
          <p:cNvSpPr txBox="true"/>
          <p:nvPr/>
        </p:nvSpPr>
        <p:spPr>
          <a:xfrm rot="0">
            <a:off x="1028700" y="895350"/>
            <a:ext cx="10189153" cy="1120539"/>
          </a:xfrm>
          <a:prstGeom prst="rect">
            <a:avLst/>
          </a:prstGeom>
        </p:spPr>
        <p:txBody>
          <a:bodyPr anchor="t" rtlCol="false" tIns="0" lIns="0" bIns="0" rIns="0">
            <a:spAutoFit/>
          </a:bodyPr>
          <a:lstStyle/>
          <a:p>
            <a:pPr algn="l" marL="0" indent="0" lvl="0">
              <a:lnSpc>
                <a:spcPts val="9100"/>
              </a:lnSpc>
              <a:spcBef>
                <a:spcPct val="0"/>
              </a:spcBef>
            </a:pPr>
            <a:r>
              <a:rPr lang="en-US" b="true" sz="6500" strike="noStrike" u="none">
                <a:solidFill>
                  <a:srgbClr val="FFFFFF"/>
                </a:solidFill>
                <a:latin typeface="TT Supermolot Neue Bold"/>
                <a:ea typeface="TT Supermolot Neue Bold"/>
                <a:cs typeface="TT Supermolot Neue Bold"/>
                <a:sym typeface="TT Supermolot Neue Bold"/>
              </a:rPr>
              <a:t>Ex</a:t>
            </a:r>
            <a:r>
              <a:rPr lang="en-US" b="true" sz="6500" strike="noStrike" u="none">
                <a:solidFill>
                  <a:srgbClr val="FFFFFF"/>
                </a:solidFill>
                <a:latin typeface="TT Supermolot Neue Bold"/>
                <a:ea typeface="TT Supermolot Neue Bold"/>
                <a:cs typeface="TT Supermolot Neue Bold"/>
                <a:sym typeface="TT Supermolot Neue Bold"/>
              </a:rPr>
              <a:t>is</a:t>
            </a:r>
            <a:r>
              <a:rPr lang="en-US" b="true" sz="6500" strike="noStrike" u="none">
                <a:solidFill>
                  <a:srgbClr val="FFFFFF"/>
                </a:solidFill>
                <a:latin typeface="TT Supermolot Neue Bold"/>
                <a:ea typeface="TT Supermolot Neue Bold"/>
                <a:cs typeface="TT Supermolot Neue Bold"/>
                <a:sym typeface="TT Supermolot Neue Bold"/>
              </a:rPr>
              <a:t>ti</a:t>
            </a:r>
            <a:r>
              <a:rPr lang="en-US" b="true" sz="6500" strike="noStrike" u="none">
                <a:solidFill>
                  <a:srgbClr val="FFFFFF"/>
                </a:solidFill>
                <a:latin typeface="TT Supermolot Neue Bold"/>
                <a:ea typeface="TT Supermolot Neue Bold"/>
                <a:cs typeface="TT Supermolot Neue Bold"/>
                <a:sym typeface="TT Supermolot Neue Bold"/>
              </a:rPr>
              <a:t>ng Tool</a:t>
            </a:r>
            <a:r>
              <a:rPr lang="en-US" b="true" sz="6500" strike="noStrike" u="none">
                <a:solidFill>
                  <a:srgbClr val="FFFFFF"/>
                </a:solidFill>
                <a:latin typeface="TT Supermolot Neue Bold"/>
                <a:ea typeface="TT Supermolot Neue Bold"/>
                <a:cs typeface="TT Supermolot Neue Bold"/>
                <a:sym typeface="TT Supermolot Neue Bold"/>
              </a:rPr>
              <a: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15877799" y="-1625565"/>
            <a:ext cx="4195722" cy="4305311"/>
          </a:xfrm>
          <a:custGeom>
            <a:avLst/>
            <a:gdLst/>
            <a:ahLst/>
            <a:cxnLst/>
            <a:rect r="r" b="b" t="t" l="l"/>
            <a:pathLst>
              <a:path h="4305311" w="4195722">
                <a:moveTo>
                  <a:pt x="0" y="0"/>
                </a:moveTo>
                <a:lnTo>
                  <a:pt x="4195722" y="0"/>
                </a:lnTo>
                <a:lnTo>
                  <a:pt x="4195722" y="4305311"/>
                </a:lnTo>
                <a:lnTo>
                  <a:pt x="0" y="4305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5495" y="7729961"/>
            <a:ext cx="4195722" cy="4305311"/>
          </a:xfrm>
          <a:custGeom>
            <a:avLst/>
            <a:gdLst/>
            <a:ahLst/>
            <a:cxnLst/>
            <a:rect r="r" b="b" t="t" l="l"/>
            <a:pathLst>
              <a:path h="4305311" w="4195722">
                <a:moveTo>
                  <a:pt x="0" y="0"/>
                </a:moveTo>
                <a:lnTo>
                  <a:pt x="4195722" y="0"/>
                </a:lnTo>
                <a:lnTo>
                  <a:pt x="4195722" y="4305312"/>
                </a:lnTo>
                <a:lnTo>
                  <a:pt x="0" y="4305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140965" y="2679746"/>
            <a:ext cx="4946119" cy="4946119"/>
          </a:xfrm>
          <a:custGeom>
            <a:avLst/>
            <a:gdLst/>
            <a:ahLst/>
            <a:cxnLst/>
            <a:rect r="r" b="b" t="t" l="l"/>
            <a:pathLst>
              <a:path h="4946119" w="4946119">
                <a:moveTo>
                  <a:pt x="0" y="0"/>
                </a:moveTo>
                <a:lnTo>
                  <a:pt x="4946119" y="0"/>
                </a:lnTo>
                <a:lnTo>
                  <a:pt x="4946119" y="4946119"/>
                </a:lnTo>
                <a:lnTo>
                  <a:pt x="0" y="4946119"/>
                </a:lnTo>
                <a:lnTo>
                  <a:pt x="0" y="0"/>
                </a:lnTo>
                <a:close/>
              </a:path>
            </a:pathLst>
          </a:custGeom>
          <a:blipFill>
            <a:blip r:embed="rId4"/>
            <a:stretch>
              <a:fillRect l="0" t="0" r="0" b="0"/>
            </a:stretch>
          </a:blipFill>
        </p:spPr>
      </p:sp>
      <p:sp>
        <p:nvSpPr>
          <p:cNvPr name="TextBox 5" id="5"/>
          <p:cNvSpPr txBox="true"/>
          <p:nvPr/>
        </p:nvSpPr>
        <p:spPr>
          <a:xfrm rot="0">
            <a:off x="1893382" y="1073591"/>
            <a:ext cx="7056340"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T</a:t>
            </a:r>
            <a:r>
              <a:rPr lang="en-US" b="true" sz="6500" strike="noStrike" u="none">
                <a:solidFill>
                  <a:srgbClr val="FFFFFF"/>
                </a:solidFill>
                <a:latin typeface="TT Supermolot Neue Bold"/>
                <a:ea typeface="TT Supermolot Neue Bold"/>
                <a:cs typeface="TT Supermolot Neue Bold"/>
                <a:sym typeface="TT Supermolot Neue Bold"/>
              </a:rPr>
              <a:t>arget Audience</a:t>
            </a:r>
          </a:p>
        </p:txBody>
      </p:sp>
      <p:sp>
        <p:nvSpPr>
          <p:cNvPr name="TextBox 6" id="6"/>
          <p:cNvSpPr txBox="true"/>
          <p:nvPr/>
        </p:nvSpPr>
        <p:spPr>
          <a:xfrm rot="0">
            <a:off x="1386800" y="2897542"/>
            <a:ext cx="10251171" cy="4443853"/>
          </a:xfrm>
          <a:prstGeom prst="rect">
            <a:avLst/>
          </a:prstGeom>
        </p:spPr>
        <p:txBody>
          <a:bodyPr anchor="t" rtlCol="false" tIns="0" lIns="0" bIns="0" rIns="0">
            <a:spAutoFit/>
          </a:bodyPr>
          <a:lstStyle/>
          <a:p>
            <a:pPr algn="l" marL="678723" indent="-339362" lvl="1">
              <a:lnSpc>
                <a:spcPts val="4401"/>
              </a:lnSpc>
              <a:spcBef>
                <a:spcPct val="0"/>
              </a:spcBef>
              <a:buFont typeface="Arial"/>
              <a:buChar char="•"/>
            </a:pPr>
            <a:r>
              <a:rPr lang="en-US" sz="3143">
                <a:solidFill>
                  <a:srgbClr val="FFFFFF"/>
                </a:solidFill>
                <a:latin typeface="Open Sans"/>
                <a:ea typeface="Open Sans"/>
                <a:cs typeface="Open Sans"/>
                <a:sym typeface="Open Sans"/>
              </a:rPr>
              <a:t>Immunologists stu</a:t>
            </a:r>
            <a:r>
              <a:rPr lang="en-US" sz="3143" strike="noStrike" u="none">
                <a:solidFill>
                  <a:srgbClr val="FFFFFF"/>
                </a:solidFill>
                <a:latin typeface="Open Sans"/>
                <a:ea typeface="Open Sans"/>
                <a:cs typeface="Open Sans"/>
                <a:sym typeface="Open Sans"/>
              </a:rPr>
              <a:t>d</a:t>
            </a:r>
            <a:r>
              <a:rPr lang="en-US" sz="3143" strike="noStrike" u="none">
                <a:solidFill>
                  <a:srgbClr val="FFFFFF"/>
                </a:solidFill>
                <a:latin typeface="Open Sans"/>
                <a:ea typeface="Open Sans"/>
                <a:cs typeface="Open Sans"/>
                <a:sym typeface="Open Sans"/>
              </a:rPr>
              <a:t>ying</a:t>
            </a:r>
            <a:r>
              <a:rPr lang="en-US" sz="3143" strike="noStrike" u="none">
                <a:solidFill>
                  <a:srgbClr val="FFFFFF"/>
                </a:solidFill>
                <a:latin typeface="Open Sans"/>
                <a:ea typeface="Open Sans"/>
                <a:cs typeface="Open Sans"/>
                <a:sym typeface="Open Sans"/>
              </a:rPr>
              <a:t> antibody variab</a:t>
            </a:r>
            <a:r>
              <a:rPr lang="en-US" sz="3143" strike="noStrike" u="none">
                <a:solidFill>
                  <a:srgbClr val="FFFFFF"/>
                </a:solidFill>
                <a:latin typeface="Open Sans"/>
                <a:ea typeface="Open Sans"/>
                <a:cs typeface="Open Sans"/>
                <a:sym typeface="Open Sans"/>
              </a:rPr>
              <a:t>ili</a:t>
            </a:r>
            <a:r>
              <a:rPr lang="en-US" sz="3143" strike="noStrike" u="none">
                <a:solidFill>
                  <a:srgbClr val="FFFFFF"/>
                </a:solidFill>
                <a:latin typeface="Open Sans"/>
                <a:ea typeface="Open Sans"/>
                <a:cs typeface="Open Sans"/>
                <a:sym typeface="Open Sans"/>
              </a:rPr>
              <a:t>ty and immune r</a:t>
            </a:r>
            <a:r>
              <a:rPr lang="en-US" sz="3143" strike="noStrike" u="none">
                <a:solidFill>
                  <a:srgbClr val="FFFFFF"/>
                </a:solidFill>
                <a:latin typeface="Open Sans"/>
                <a:ea typeface="Open Sans"/>
                <a:cs typeface="Open Sans"/>
                <a:sym typeface="Open Sans"/>
              </a:rPr>
              <a:t>esponse</a:t>
            </a:r>
            <a:r>
              <a:rPr lang="en-US" sz="3143" strike="noStrike" u="none">
                <a:solidFill>
                  <a:srgbClr val="FFFFFF"/>
                </a:solidFill>
                <a:latin typeface="Open Sans"/>
                <a:ea typeface="Open Sans"/>
                <a:cs typeface="Open Sans"/>
                <a:sym typeface="Open Sans"/>
              </a:rPr>
              <a:t>s</a:t>
            </a:r>
          </a:p>
          <a:p>
            <a:pPr algn="l" marL="678723" indent="-339362" lvl="1">
              <a:lnSpc>
                <a:spcPts val="4401"/>
              </a:lnSpc>
              <a:spcBef>
                <a:spcPct val="0"/>
              </a:spcBef>
              <a:buFont typeface="Arial"/>
              <a:buChar char="•"/>
            </a:pPr>
            <a:r>
              <a:rPr lang="en-US" sz="3143" strike="noStrike" u="none">
                <a:solidFill>
                  <a:srgbClr val="FFFFFF"/>
                </a:solidFill>
                <a:latin typeface="Open Sans"/>
                <a:ea typeface="Open Sans"/>
                <a:cs typeface="Open Sans"/>
                <a:sym typeface="Open Sans"/>
              </a:rPr>
              <a:t>Bioinforma</a:t>
            </a:r>
            <a:r>
              <a:rPr lang="en-US" sz="3143" strike="noStrike" u="none">
                <a:solidFill>
                  <a:srgbClr val="FFFFFF"/>
                </a:solidFill>
                <a:latin typeface="Open Sans"/>
                <a:ea typeface="Open Sans"/>
                <a:cs typeface="Open Sans"/>
                <a:sym typeface="Open Sans"/>
              </a:rPr>
              <a:t>ticians looking for</a:t>
            </a:r>
            <a:r>
              <a:rPr lang="en-US" sz="3143" strike="noStrike" u="none">
                <a:solidFill>
                  <a:srgbClr val="FFFFFF"/>
                </a:solidFill>
                <a:latin typeface="Open Sans"/>
                <a:ea typeface="Open Sans"/>
                <a:cs typeface="Open Sans"/>
                <a:sym typeface="Open Sans"/>
              </a:rPr>
              <a:t> tools </a:t>
            </a:r>
            <a:r>
              <a:rPr lang="en-US" sz="3143" strike="noStrike" u="none">
                <a:solidFill>
                  <a:srgbClr val="FFFFFF"/>
                </a:solidFill>
                <a:latin typeface="Open Sans"/>
                <a:ea typeface="Open Sans"/>
                <a:cs typeface="Open Sans"/>
                <a:sym typeface="Open Sans"/>
              </a:rPr>
              <a:t>f</a:t>
            </a:r>
            <a:r>
              <a:rPr lang="en-US" sz="3143" strike="noStrike" u="none">
                <a:solidFill>
                  <a:srgbClr val="FFFFFF"/>
                </a:solidFill>
                <a:latin typeface="Open Sans"/>
                <a:ea typeface="Open Sans"/>
                <a:cs typeface="Open Sans"/>
                <a:sym typeface="Open Sans"/>
              </a:rPr>
              <a:t>or protein sequen</a:t>
            </a:r>
            <a:r>
              <a:rPr lang="en-US" sz="3143" strike="noStrike" u="none">
                <a:solidFill>
                  <a:srgbClr val="FFFFFF"/>
                </a:solidFill>
                <a:latin typeface="Open Sans"/>
                <a:ea typeface="Open Sans"/>
                <a:cs typeface="Open Sans"/>
                <a:sym typeface="Open Sans"/>
              </a:rPr>
              <a:t>ce</a:t>
            </a:r>
            <a:r>
              <a:rPr lang="en-US" sz="3143" strike="noStrike" u="none">
                <a:solidFill>
                  <a:srgbClr val="FFFFFF"/>
                </a:solidFill>
                <a:latin typeface="Open Sans"/>
                <a:ea typeface="Open Sans"/>
                <a:cs typeface="Open Sans"/>
                <a:sym typeface="Open Sans"/>
              </a:rPr>
              <a:t> ana</a:t>
            </a:r>
            <a:r>
              <a:rPr lang="en-US" sz="3143" strike="noStrike" u="none">
                <a:solidFill>
                  <a:srgbClr val="FFFFFF"/>
                </a:solidFill>
                <a:latin typeface="Open Sans"/>
                <a:ea typeface="Open Sans"/>
                <a:cs typeface="Open Sans"/>
                <a:sym typeface="Open Sans"/>
              </a:rPr>
              <a:t>lys</a:t>
            </a:r>
            <a:r>
              <a:rPr lang="en-US" sz="3143" strike="noStrike" u="none">
                <a:solidFill>
                  <a:srgbClr val="FFFFFF"/>
                </a:solidFill>
                <a:latin typeface="Open Sans"/>
                <a:ea typeface="Open Sans"/>
                <a:cs typeface="Open Sans"/>
                <a:sym typeface="Open Sans"/>
              </a:rPr>
              <a:t>i</a:t>
            </a:r>
            <a:r>
              <a:rPr lang="en-US" sz="3143" strike="noStrike" u="none">
                <a:solidFill>
                  <a:srgbClr val="FFFFFF"/>
                </a:solidFill>
                <a:latin typeface="Open Sans"/>
                <a:ea typeface="Open Sans"/>
                <a:cs typeface="Open Sans"/>
                <a:sym typeface="Open Sans"/>
              </a:rPr>
              <a:t>s</a:t>
            </a:r>
          </a:p>
          <a:p>
            <a:pPr algn="l" marL="678723" indent="-339362" lvl="1">
              <a:lnSpc>
                <a:spcPts val="4401"/>
              </a:lnSpc>
              <a:spcBef>
                <a:spcPct val="0"/>
              </a:spcBef>
              <a:buFont typeface="Arial"/>
              <a:buChar char="•"/>
            </a:pPr>
            <a:r>
              <a:rPr lang="en-US" sz="3143" strike="noStrike" u="none">
                <a:solidFill>
                  <a:srgbClr val="FFFFFF"/>
                </a:solidFill>
                <a:latin typeface="Open Sans"/>
                <a:ea typeface="Open Sans"/>
                <a:cs typeface="Open Sans"/>
                <a:sym typeface="Open Sans"/>
              </a:rPr>
              <a:t>R</a:t>
            </a:r>
            <a:r>
              <a:rPr lang="en-US" sz="3143" strike="noStrike" u="none">
                <a:solidFill>
                  <a:srgbClr val="FFFFFF"/>
                </a:solidFill>
                <a:latin typeface="Open Sans"/>
                <a:ea typeface="Open Sans"/>
                <a:cs typeface="Open Sans"/>
                <a:sym typeface="Open Sans"/>
              </a:rPr>
              <a:t>es</a:t>
            </a:r>
            <a:r>
              <a:rPr lang="en-US" sz="3143" strike="noStrike" u="none">
                <a:solidFill>
                  <a:srgbClr val="FFFFFF"/>
                </a:solidFill>
                <a:latin typeface="Open Sans"/>
                <a:ea typeface="Open Sans"/>
                <a:cs typeface="Open Sans"/>
                <a:sym typeface="Open Sans"/>
              </a:rPr>
              <a:t>e</a:t>
            </a:r>
            <a:r>
              <a:rPr lang="en-US" sz="3143" strike="noStrike" u="none">
                <a:solidFill>
                  <a:srgbClr val="FFFFFF"/>
                </a:solidFill>
                <a:latin typeface="Open Sans"/>
                <a:ea typeface="Open Sans"/>
                <a:cs typeface="Open Sans"/>
                <a:sym typeface="Open Sans"/>
              </a:rPr>
              <a:t>archers co</a:t>
            </a:r>
            <a:r>
              <a:rPr lang="en-US" sz="3143" strike="noStrike" u="none">
                <a:solidFill>
                  <a:srgbClr val="FFFFFF"/>
                </a:solidFill>
                <a:latin typeface="Open Sans"/>
                <a:ea typeface="Open Sans"/>
                <a:cs typeface="Open Sans"/>
                <a:sym typeface="Open Sans"/>
              </a:rPr>
              <a:t>mpa</a:t>
            </a:r>
            <a:r>
              <a:rPr lang="en-US" sz="3143" strike="noStrike" u="none">
                <a:solidFill>
                  <a:srgbClr val="FFFFFF"/>
                </a:solidFill>
                <a:latin typeface="Open Sans"/>
                <a:ea typeface="Open Sans"/>
                <a:cs typeface="Open Sans"/>
                <a:sym typeface="Open Sans"/>
              </a:rPr>
              <a:t>rin</a:t>
            </a:r>
            <a:r>
              <a:rPr lang="en-US" sz="3143" strike="noStrike" u="none">
                <a:solidFill>
                  <a:srgbClr val="FFFFFF"/>
                </a:solidFill>
                <a:latin typeface="Open Sans"/>
                <a:ea typeface="Open Sans"/>
                <a:cs typeface="Open Sans"/>
                <a:sym typeface="Open Sans"/>
              </a:rPr>
              <a:t>g dis</a:t>
            </a:r>
            <a:r>
              <a:rPr lang="en-US" sz="3143" strike="noStrike" u="none">
                <a:solidFill>
                  <a:srgbClr val="FFFFFF"/>
                </a:solidFill>
                <a:latin typeface="Open Sans"/>
                <a:ea typeface="Open Sans"/>
                <a:cs typeface="Open Sans"/>
                <a:sym typeface="Open Sans"/>
              </a:rPr>
              <a:t>e</a:t>
            </a:r>
            <a:r>
              <a:rPr lang="en-US" sz="3143" strike="noStrike" u="none">
                <a:solidFill>
                  <a:srgbClr val="FFFFFF"/>
                </a:solidFill>
                <a:latin typeface="Open Sans"/>
                <a:ea typeface="Open Sans"/>
                <a:cs typeface="Open Sans"/>
                <a:sym typeface="Open Sans"/>
              </a:rPr>
              <a:t>a</a:t>
            </a:r>
            <a:r>
              <a:rPr lang="en-US" sz="3143" strike="noStrike" u="none">
                <a:solidFill>
                  <a:srgbClr val="FFFFFF"/>
                </a:solidFill>
                <a:latin typeface="Open Sans"/>
                <a:ea typeface="Open Sans"/>
                <a:cs typeface="Open Sans"/>
                <a:sym typeface="Open Sans"/>
              </a:rPr>
              <a:t>se, va</a:t>
            </a:r>
            <a:r>
              <a:rPr lang="en-US" sz="3143" strike="noStrike" u="none">
                <a:solidFill>
                  <a:srgbClr val="FFFFFF"/>
                </a:solidFill>
                <a:latin typeface="Open Sans"/>
                <a:ea typeface="Open Sans"/>
                <a:cs typeface="Open Sans"/>
                <a:sym typeface="Open Sans"/>
              </a:rPr>
              <a:t>cc</a:t>
            </a:r>
            <a:r>
              <a:rPr lang="en-US" sz="3143" strike="noStrike" u="none">
                <a:solidFill>
                  <a:srgbClr val="FFFFFF"/>
                </a:solidFill>
                <a:latin typeface="Open Sans"/>
                <a:ea typeface="Open Sans"/>
                <a:cs typeface="Open Sans"/>
                <a:sym typeface="Open Sans"/>
              </a:rPr>
              <a:t>ina</a:t>
            </a:r>
            <a:r>
              <a:rPr lang="en-US" sz="3143" strike="noStrike" u="none">
                <a:solidFill>
                  <a:srgbClr val="FFFFFF"/>
                </a:solidFill>
                <a:latin typeface="Open Sans"/>
                <a:ea typeface="Open Sans"/>
                <a:cs typeface="Open Sans"/>
                <a:sym typeface="Open Sans"/>
              </a:rPr>
              <a:t>t</a:t>
            </a:r>
            <a:r>
              <a:rPr lang="en-US" sz="3143" strike="noStrike" u="none">
                <a:solidFill>
                  <a:srgbClr val="FFFFFF"/>
                </a:solidFill>
                <a:latin typeface="Open Sans"/>
                <a:ea typeface="Open Sans"/>
                <a:cs typeface="Open Sans"/>
                <a:sym typeface="Open Sans"/>
              </a:rPr>
              <a:t>ion, </a:t>
            </a:r>
            <a:r>
              <a:rPr lang="en-US" sz="3143" strike="noStrike" u="none">
                <a:solidFill>
                  <a:srgbClr val="FFFFFF"/>
                </a:solidFill>
                <a:latin typeface="Open Sans"/>
                <a:ea typeface="Open Sans"/>
                <a:cs typeface="Open Sans"/>
                <a:sym typeface="Open Sans"/>
              </a:rPr>
              <a:t>o</a:t>
            </a:r>
            <a:r>
              <a:rPr lang="en-US" sz="3143" strike="noStrike" u="none">
                <a:solidFill>
                  <a:srgbClr val="FFFFFF"/>
                </a:solidFill>
                <a:latin typeface="Open Sans"/>
                <a:ea typeface="Open Sans"/>
                <a:cs typeface="Open Sans"/>
                <a:sym typeface="Open Sans"/>
              </a:rPr>
              <a:t>r</a:t>
            </a:r>
            <a:r>
              <a:rPr lang="en-US" sz="3143" strike="noStrike" u="none">
                <a:solidFill>
                  <a:srgbClr val="FFFFFF"/>
                </a:solidFill>
                <a:latin typeface="Open Sans"/>
                <a:ea typeface="Open Sans"/>
                <a:cs typeface="Open Sans"/>
                <a:sym typeface="Open Sans"/>
              </a:rPr>
              <a:t> ag</a:t>
            </a:r>
            <a:r>
              <a:rPr lang="en-US" sz="3143" strike="noStrike" u="none">
                <a:solidFill>
                  <a:srgbClr val="FFFFFF"/>
                </a:solidFill>
                <a:latin typeface="Open Sans"/>
                <a:ea typeface="Open Sans"/>
                <a:cs typeface="Open Sans"/>
                <a:sym typeface="Open Sans"/>
              </a:rPr>
              <a:t>e</a:t>
            </a:r>
            <a:r>
              <a:rPr lang="en-US" sz="3143" strike="noStrike" u="none">
                <a:solidFill>
                  <a:srgbClr val="FFFFFF"/>
                </a:solidFill>
                <a:latin typeface="Open Sans"/>
                <a:ea typeface="Open Sans"/>
                <a:cs typeface="Open Sans"/>
                <a:sym typeface="Open Sans"/>
              </a:rPr>
              <a:t>-r</a:t>
            </a:r>
            <a:r>
              <a:rPr lang="en-US" sz="3143" strike="noStrike" u="none">
                <a:solidFill>
                  <a:srgbClr val="FFFFFF"/>
                </a:solidFill>
                <a:latin typeface="Open Sans"/>
                <a:ea typeface="Open Sans"/>
                <a:cs typeface="Open Sans"/>
                <a:sym typeface="Open Sans"/>
              </a:rPr>
              <a:t>el</a:t>
            </a:r>
            <a:r>
              <a:rPr lang="en-US" sz="3143" strike="noStrike" u="none">
                <a:solidFill>
                  <a:srgbClr val="FFFFFF"/>
                </a:solidFill>
                <a:latin typeface="Open Sans"/>
                <a:ea typeface="Open Sans"/>
                <a:cs typeface="Open Sans"/>
                <a:sym typeface="Open Sans"/>
              </a:rPr>
              <a:t>at</a:t>
            </a:r>
            <a:r>
              <a:rPr lang="en-US" sz="3143" strike="noStrike" u="none">
                <a:solidFill>
                  <a:srgbClr val="FFFFFF"/>
                </a:solidFill>
                <a:latin typeface="Open Sans"/>
                <a:ea typeface="Open Sans"/>
                <a:cs typeface="Open Sans"/>
                <a:sym typeface="Open Sans"/>
              </a:rPr>
              <a:t>e</a:t>
            </a:r>
            <a:r>
              <a:rPr lang="en-US" sz="3143" strike="noStrike" u="none">
                <a:solidFill>
                  <a:srgbClr val="FFFFFF"/>
                </a:solidFill>
                <a:latin typeface="Open Sans"/>
                <a:ea typeface="Open Sans"/>
                <a:cs typeface="Open Sans"/>
                <a:sym typeface="Open Sans"/>
              </a:rPr>
              <a:t>d</a:t>
            </a:r>
            <a:r>
              <a:rPr lang="en-US" sz="3143" strike="noStrike" u="none">
                <a:solidFill>
                  <a:srgbClr val="FFFFFF"/>
                </a:solidFill>
                <a:latin typeface="Open Sans"/>
                <a:ea typeface="Open Sans"/>
                <a:cs typeface="Open Sans"/>
                <a:sym typeface="Open Sans"/>
              </a:rPr>
              <a:t> </a:t>
            </a:r>
            <a:r>
              <a:rPr lang="en-US" sz="3143" strike="noStrike" u="none">
                <a:solidFill>
                  <a:srgbClr val="FFFFFF"/>
                </a:solidFill>
                <a:latin typeface="Open Sans"/>
                <a:ea typeface="Open Sans"/>
                <a:cs typeface="Open Sans"/>
                <a:sym typeface="Open Sans"/>
              </a:rPr>
              <a:t>im</a:t>
            </a:r>
            <a:r>
              <a:rPr lang="en-US" sz="3143" strike="noStrike" u="none">
                <a:solidFill>
                  <a:srgbClr val="FFFFFF"/>
                </a:solidFill>
                <a:latin typeface="Open Sans"/>
                <a:ea typeface="Open Sans"/>
                <a:cs typeface="Open Sans"/>
                <a:sym typeface="Open Sans"/>
              </a:rPr>
              <a:t>m</a:t>
            </a:r>
            <a:r>
              <a:rPr lang="en-US" sz="3143" strike="noStrike" u="none">
                <a:solidFill>
                  <a:srgbClr val="FFFFFF"/>
                </a:solidFill>
                <a:latin typeface="Open Sans"/>
                <a:ea typeface="Open Sans"/>
                <a:cs typeface="Open Sans"/>
                <a:sym typeface="Open Sans"/>
              </a:rPr>
              <a:t>u</a:t>
            </a:r>
            <a:r>
              <a:rPr lang="en-US" sz="3143" strike="noStrike" u="none">
                <a:solidFill>
                  <a:srgbClr val="FFFFFF"/>
                </a:solidFill>
                <a:latin typeface="Open Sans"/>
                <a:ea typeface="Open Sans"/>
                <a:cs typeface="Open Sans"/>
                <a:sym typeface="Open Sans"/>
              </a:rPr>
              <a:t>ne </a:t>
            </a:r>
            <a:r>
              <a:rPr lang="en-US" sz="3143" strike="noStrike" u="none">
                <a:solidFill>
                  <a:srgbClr val="FFFFFF"/>
                </a:solidFill>
                <a:latin typeface="Open Sans"/>
                <a:ea typeface="Open Sans"/>
                <a:cs typeface="Open Sans"/>
                <a:sym typeface="Open Sans"/>
              </a:rPr>
              <a:t>p</a:t>
            </a:r>
            <a:r>
              <a:rPr lang="en-US" sz="3143" strike="noStrike" u="none">
                <a:solidFill>
                  <a:srgbClr val="FFFFFF"/>
                </a:solidFill>
                <a:latin typeface="Open Sans"/>
                <a:ea typeface="Open Sans"/>
                <a:cs typeface="Open Sans"/>
                <a:sym typeface="Open Sans"/>
              </a:rPr>
              <a:t>r</a:t>
            </a:r>
            <a:r>
              <a:rPr lang="en-US" sz="3143" strike="noStrike" u="none">
                <a:solidFill>
                  <a:srgbClr val="FFFFFF"/>
                </a:solidFill>
                <a:latin typeface="Open Sans"/>
                <a:ea typeface="Open Sans"/>
                <a:cs typeface="Open Sans"/>
                <a:sym typeface="Open Sans"/>
              </a:rPr>
              <a:t>ofil</a:t>
            </a:r>
            <a:r>
              <a:rPr lang="en-US" sz="3143" strike="noStrike" u="none">
                <a:solidFill>
                  <a:srgbClr val="FFFFFF"/>
                </a:solidFill>
                <a:latin typeface="Open Sans"/>
                <a:ea typeface="Open Sans"/>
                <a:cs typeface="Open Sans"/>
                <a:sym typeface="Open Sans"/>
              </a:rPr>
              <a:t>e</a:t>
            </a:r>
            <a:r>
              <a:rPr lang="en-US" sz="3143" strike="noStrike" u="none">
                <a:solidFill>
                  <a:srgbClr val="FFFFFF"/>
                </a:solidFill>
                <a:latin typeface="Open Sans"/>
                <a:ea typeface="Open Sans"/>
                <a:cs typeface="Open Sans"/>
                <a:sym typeface="Open Sans"/>
              </a:rPr>
              <a:t>s</a:t>
            </a:r>
          </a:p>
          <a:p>
            <a:pPr algn="l" marL="678723" indent="-339362" lvl="1">
              <a:lnSpc>
                <a:spcPts val="4401"/>
              </a:lnSpc>
              <a:spcBef>
                <a:spcPct val="0"/>
              </a:spcBef>
              <a:buFont typeface="Arial"/>
              <a:buChar char="•"/>
            </a:pPr>
            <a:r>
              <a:rPr lang="en-US" sz="3143" strike="noStrike" u="none">
                <a:solidFill>
                  <a:srgbClr val="FFFFFF"/>
                </a:solidFill>
                <a:latin typeface="Open Sans"/>
                <a:ea typeface="Open Sans"/>
                <a:cs typeface="Open Sans"/>
                <a:sym typeface="Open Sans"/>
              </a:rPr>
              <a:t>Educ</a:t>
            </a:r>
            <a:r>
              <a:rPr lang="en-US" sz="3143" strike="noStrike" u="none">
                <a:solidFill>
                  <a:srgbClr val="FFFFFF"/>
                </a:solidFill>
                <a:latin typeface="Open Sans"/>
                <a:ea typeface="Open Sans"/>
                <a:cs typeface="Open Sans"/>
                <a:sym typeface="Open Sans"/>
              </a:rPr>
              <a:t>ato</a:t>
            </a:r>
            <a:r>
              <a:rPr lang="en-US" sz="3143" strike="noStrike" u="none">
                <a:solidFill>
                  <a:srgbClr val="FFFFFF"/>
                </a:solidFill>
                <a:latin typeface="Open Sans"/>
                <a:ea typeface="Open Sans"/>
                <a:cs typeface="Open Sans"/>
                <a:sym typeface="Open Sans"/>
              </a:rPr>
              <a:t>r</a:t>
            </a:r>
            <a:r>
              <a:rPr lang="en-US" sz="3143" strike="noStrike" u="none">
                <a:solidFill>
                  <a:srgbClr val="FFFFFF"/>
                </a:solidFill>
                <a:latin typeface="Open Sans"/>
                <a:ea typeface="Open Sans"/>
                <a:cs typeface="Open Sans"/>
                <a:sym typeface="Open Sans"/>
              </a:rPr>
              <a:t>s an</a:t>
            </a:r>
            <a:r>
              <a:rPr lang="en-US" sz="3143" strike="noStrike" u="none">
                <a:solidFill>
                  <a:srgbClr val="FFFFFF"/>
                </a:solidFill>
                <a:latin typeface="Open Sans"/>
                <a:ea typeface="Open Sans"/>
                <a:cs typeface="Open Sans"/>
                <a:sym typeface="Open Sans"/>
              </a:rPr>
              <a:t>d</a:t>
            </a:r>
            <a:r>
              <a:rPr lang="en-US" sz="3143" strike="noStrike" u="none">
                <a:solidFill>
                  <a:srgbClr val="FFFFFF"/>
                </a:solidFill>
                <a:latin typeface="Open Sans"/>
                <a:ea typeface="Open Sans"/>
                <a:cs typeface="Open Sans"/>
                <a:sym typeface="Open Sans"/>
              </a:rPr>
              <a:t> s</a:t>
            </a:r>
            <a:r>
              <a:rPr lang="en-US" sz="3143" strike="noStrike" u="none">
                <a:solidFill>
                  <a:srgbClr val="FFFFFF"/>
                </a:solidFill>
                <a:latin typeface="Open Sans"/>
                <a:ea typeface="Open Sans"/>
                <a:cs typeface="Open Sans"/>
                <a:sym typeface="Open Sans"/>
              </a:rPr>
              <a:t>t</a:t>
            </a:r>
            <a:r>
              <a:rPr lang="en-US" sz="3143" strike="noStrike" u="none">
                <a:solidFill>
                  <a:srgbClr val="FFFFFF"/>
                </a:solidFill>
                <a:latin typeface="Open Sans"/>
                <a:ea typeface="Open Sans"/>
                <a:cs typeface="Open Sans"/>
                <a:sym typeface="Open Sans"/>
              </a:rPr>
              <a:t>u</a:t>
            </a:r>
            <a:r>
              <a:rPr lang="en-US" sz="3143" strike="noStrike" u="none">
                <a:solidFill>
                  <a:srgbClr val="FFFFFF"/>
                </a:solidFill>
                <a:latin typeface="Open Sans"/>
                <a:ea typeface="Open Sans"/>
                <a:cs typeface="Open Sans"/>
                <a:sym typeface="Open Sans"/>
              </a:rPr>
              <a:t>d</a:t>
            </a:r>
            <a:r>
              <a:rPr lang="en-US" sz="3143" strike="noStrike" u="none">
                <a:solidFill>
                  <a:srgbClr val="FFFFFF"/>
                </a:solidFill>
                <a:latin typeface="Open Sans"/>
                <a:ea typeface="Open Sans"/>
                <a:cs typeface="Open Sans"/>
                <a:sym typeface="Open Sans"/>
              </a:rPr>
              <a:t>ents needing intuit</a:t>
            </a:r>
            <a:r>
              <a:rPr lang="en-US" sz="3143" strike="noStrike" u="none">
                <a:solidFill>
                  <a:srgbClr val="FFFFFF"/>
                </a:solidFill>
                <a:latin typeface="Open Sans"/>
                <a:ea typeface="Open Sans"/>
                <a:cs typeface="Open Sans"/>
                <a:sym typeface="Open Sans"/>
              </a:rPr>
              <a:t>ive vis</a:t>
            </a:r>
            <a:r>
              <a:rPr lang="en-US" sz="3143" strike="noStrike" u="none">
                <a:solidFill>
                  <a:srgbClr val="FFFFFF"/>
                </a:solidFill>
                <a:latin typeface="Open Sans"/>
                <a:ea typeface="Open Sans"/>
                <a:cs typeface="Open Sans"/>
                <a:sym typeface="Open Sans"/>
              </a:rPr>
              <a:t>ual</a:t>
            </a:r>
            <a:r>
              <a:rPr lang="en-US" sz="3143" strike="noStrike" u="none">
                <a:solidFill>
                  <a:srgbClr val="FFFFFF"/>
                </a:solidFill>
                <a:latin typeface="Open Sans"/>
                <a:ea typeface="Open Sans"/>
                <a:cs typeface="Open Sans"/>
                <a:sym typeface="Open Sans"/>
              </a:rPr>
              <a:t>izations of protein</a:t>
            </a:r>
            <a:r>
              <a:rPr lang="en-US" sz="3143" strike="noStrike" u="none">
                <a:solidFill>
                  <a:srgbClr val="FFFFFF"/>
                </a:solidFill>
                <a:latin typeface="Open Sans"/>
                <a:ea typeface="Open Sans"/>
                <a:cs typeface="Open Sans"/>
                <a:sym typeface="Open Sans"/>
              </a:rPr>
              <a:t> similarity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15877799" y="-1625565"/>
            <a:ext cx="4195722" cy="4305311"/>
          </a:xfrm>
          <a:custGeom>
            <a:avLst/>
            <a:gdLst/>
            <a:ahLst/>
            <a:cxnLst/>
            <a:rect r="r" b="b" t="t" l="l"/>
            <a:pathLst>
              <a:path h="4305311" w="4195722">
                <a:moveTo>
                  <a:pt x="0" y="0"/>
                </a:moveTo>
                <a:lnTo>
                  <a:pt x="4195722" y="0"/>
                </a:lnTo>
                <a:lnTo>
                  <a:pt x="4195722" y="4305311"/>
                </a:lnTo>
                <a:lnTo>
                  <a:pt x="0" y="4305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5495" y="7729961"/>
            <a:ext cx="4195722" cy="4305311"/>
          </a:xfrm>
          <a:custGeom>
            <a:avLst/>
            <a:gdLst/>
            <a:ahLst/>
            <a:cxnLst/>
            <a:rect r="r" b="b" t="t" l="l"/>
            <a:pathLst>
              <a:path h="4305311" w="4195722">
                <a:moveTo>
                  <a:pt x="0" y="0"/>
                </a:moveTo>
                <a:lnTo>
                  <a:pt x="4195722" y="0"/>
                </a:lnTo>
                <a:lnTo>
                  <a:pt x="4195722" y="4305312"/>
                </a:lnTo>
                <a:lnTo>
                  <a:pt x="0" y="4305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92366" y="2439689"/>
            <a:ext cx="4753453" cy="1987807"/>
          </a:xfrm>
          <a:custGeom>
            <a:avLst/>
            <a:gdLst/>
            <a:ahLst/>
            <a:cxnLst/>
            <a:rect r="r" b="b" t="t" l="l"/>
            <a:pathLst>
              <a:path h="1987807" w="4753453">
                <a:moveTo>
                  <a:pt x="0" y="0"/>
                </a:moveTo>
                <a:lnTo>
                  <a:pt x="4753453" y="0"/>
                </a:lnTo>
                <a:lnTo>
                  <a:pt x="4753453" y="1987807"/>
                </a:lnTo>
                <a:lnTo>
                  <a:pt x="0" y="1987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6361811" y="5809623"/>
            <a:ext cx="4672364" cy="579361"/>
          </a:xfrm>
          <a:prstGeom prst="rect">
            <a:avLst/>
          </a:prstGeom>
        </p:spPr>
        <p:txBody>
          <a:bodyPr anchor="t" rtlCol="false" tIns="0" lIns="0" bIns="0" rIns="0">
            <a:spAutoFit/>
          </a:bodyPr>
          <a:lstStyle/>
          <a:p>
            <a:pPr algn="ctr">
              <a:lnSpc>
                <a:spcPts val="4637"/>
              </a:lnSpc>
              <a:spcBef>
                <a:spcPct val="0"/>
              </a:spcBef>
            </a:pPr>
            <a:r>
              <a:rPr lang="en-US" b="true" sz="3312">
                <a:solidFill>
                  <a:srgbClr val="FFFFFF"/>
                </a:solidFill>
                <a:latin typeface="TT Supermolot Neue Bold"/>
                <a:ea typeface="TT Supermolot Neue Bold"/>
                <a:cs typeface="TT Supermolot Neue Bold"/>
                <a:sym typeface="TT Supermolot Neue Bold"/>
              </a:rPr>
              <a:t>Network Population</a:t>
            </a:r>
          </a:p>
        </p:txBody>
      </p:sp>
      <p:sp>
        <p:nvSpPr>
          <p:cNvPr name="TextBox 6" id="6"/>
          <p:cNvSpPr txBox="true"/>
          <p:nvPr/>
        </p:nvSpPr>
        <p:spPr>
          <a:xfrm rot="0">
            <a:off x="12471209" y="8592743"/>
            <a:ext cx="4672364" cy="579361"/>
          </a:xfrm>
          <a:prstGeom prst="rect">
            <a:avLst/>
          </a:prstGeom>
        </p:spPr>
        <p:txBody>
          <a:bodyPr anchor="t" rtlCol="false" tIns="0" lIns="0" bIns="0" rIns="0">
            <a:spAutoFit/>
          </a:bodyPr>
          <a:lstStyle/>
          <a:p>
            <a:pPr algn="ctr">
              <a:lnSpc>
                <a:spcPts val="4637"/>
              </a:lnSpc>
              <a:spcBef>
                <a:spcPct val="0"/>
              </a:spcBef>
            </a:pPr>
            <a:r>
              <a:rPr lang="en-US" b="true" sz="3312">
                <a:solidFill>
                  <a:srgbClr val="FFFFFF"/>
                </a:solidFill>
                <a:latin typeface="TT Supermolot Neue Bold"/>
                <a:ea typeface="TT Supermolot Neue Bold"/>
                <a:cs typeface="TT Supermolot Neue Bold"/>
                <a:sym typeface="TT Supermolot Neue Bold"/>
              </a:rPr>
              <a:t>Network Comparison</a:t>
            </a:r>
          </a:p>
        </p:txBody>
      </p:sp>
      <p:sp>
        <p:nvSpPr>
          <p:cNvPr name="Freeform 7" id="7"/>
          <p:cNvSpPr/>
          <p:nvPr/>
        </p:nvSpPr>
        <p:spPr>
          <a:xfrm flipH="false" flipV="false" rot="0">
            <a:off x="6280722" y="5143500"/>
            <a:ext cx="4753453" cy="1987807"/>
          </a:xfrm>
          <a:custGeom>
            <a:avLst/>
            <a:gdLst/>
            <a:ahLst/>
            <a:cxnLst/>
            <a:rect r="r" b="b" t="t" l="l"/>
            <a:pathLst>
              <a:path h="1987807" w="4753453">
                <a:moveTo>
                  <a:pt x="0" y="0"/>
                </a:moveTo>
                <a:lnTo>
                  <a:pt x="4753452" y="0"/>
                </a:lnTo>
                <a:lnTo>
                  <a:pt x="4753452" y="1987807"/>
                </a:lnTo>
                <a:lnTo>
                  <a:pt x="0" y="1987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2390120" y="7894810"/>
            <a:ext cx="4753453" cy="1987807"/>
          </a:xfrm>
          <a:custGeom>
            <a:avLst/>
            <a:gdLst/>
            <a:ahLst/>
            <a:cxnLst/>
            <a:rect r="r" b="b" t="t" l="l"/>
            <a:pathLst>
              <a:path h="1987807" w="4753453">
                <a:moveTo>
                  <a:pt x="0" y="0"/>
                </a:moveTo>
                <a:lnTo>
                  <a:pt x="4753453" y="0"/>
                </a:lnTo>
                <a:lnTo>
                  <a:pt x="4753453" y="1987807"/>
                </a:lnTo>
                <a:lnTo>
                  <a:pt x="0" y="19878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8864444">
            <a:off x="10726487" y="7113595"/>
            <a:ext cx="2256359" cy="475887"/>
          </a:xfrm>
          <a:custGeom>
            <a:avLst/>
            <a:gdLst/>
            <a:ahLst/>
            <a:cxnLst/>
            <a:rect r="r" b="b" t="t" l="l"/>
            <a:pathLst>
              <a:path h="475887" w="2256359">
                <a:moveTo>
                  <a:pt x="0" y="0"/>
                </a:moveTo>
                <a:lnTo>
                  <a:pt x="2256359" y="0"/>
                </a:lnTo>
                <a:lnTo>
                  <a:pt x="2256359" y="475886"/>
                </a:lnTo>
                <a:lnTo>
                  <a:pt x="0" y="475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7093487" y="549277"/>
            <a:ext cx="3940687" cy="1319642"/>
          </a:xfrm>
          <a:prstGeom prst="rect">
            <a:avLst/>
          </a:prstGeom>
        </p:spPr>
        <p:txBody>
          <a:bodyPr anchor="t" rtlCol="false" tIns="0" lIns="0" bIns="0" rIns="0">
            <a:spAutoFit/>
          </a:bodyPr>
          <a:lstStyle/>
          <a:p>
            <a:pPr algn="l" marL="0" indent="0" lvl="0">
              <a:lnSpc>
                <a:spcPts val="10757"/>
              </a:lnSpc>
              <a:spcBef>
                <a:spcPct val="0"/>
              </a:spcBef>
            </a:pPr>
            <a:r>
              <a:rPr lang="en-US" b="true" sz="7683" strike="noStrike" u="none">
                <a:solidFill>
                  <a:srgbClr val="FFFFFF"/>
                </a:solidFill>
                <a:latin typeface="TT Supermolot Neue Bold"/>
                <a:ea typeface="TT Supermolot Neue Bold"/>
                <a:cs typeface="TT Supermolot Neue Bold"/>
                <a:sym typeface="TT Supermolot Neue Bold"/>
              </a:rPr>
              <a:t> Process</a:t>
            </a:r>
          </a:p>
        </p:txBody>
      </p:sp>
      <p:sp>
        <p:nvSpPr>
          <p:cNvPr name="TextBox 11" id="11"/>
          <p:cNvSpPr txBox="true"/>
          <p:nvPr/>
        </p:nvSpPr>
        <p:spPr>
          <a:xfrm rot="0">
            <a:off x="432910" y="2812167"/>
            <a:ext cx="4672364" cy="1166652"/>
          </a:xfrm>
          <a:prstGeom prst="rect">
            <a:avLst/>
          </a:prstGeom>
        </p:spPr>
        <p:txBody>
          <a:bodyPr anchor="t" rtlCol="false" tIns="0" lIns="0" bIns="0" rIns="0">
            <a:spAutoFit/>
          </a:bodyPr>
          <a:lstStyle/>
          <a:p>
            <a:pPr algn="ctr">
              <a:lnSpc>
                <a:spcPts val="4637"/>
              </a:lnSpc>
              <a:spcBef>
                <a:spcPct val="0"/>
              </a:spcBef>
            </a:pPr>
            <a:r>
              <a:rPr lang="en-US" b="true" sz="3312">
                <a:solidFill>
                  <a:srgbClr val="FFFFFF"/>
                </a:solidFill>
                <a:latin typeface="TT Supermolot Neue Bold"/>
                <a:ea typeface="TT Supermolot Neue Bold"/>
                <a:cs typeface="TT Supermolot Neue Bold"/>
                <a:sym typeface="TT Supermolot Neue Bold"/>
              </a:rPr>
              <a:t>General Network Construction</a:t>
            </a:r>
          </a:p>
        </p:txBody>
      </p:sp>
      <p:sp>
        <p:nvSpPr>
          <p:cNvPr name="Freeform 12" id="12"/>
          <p:cNvSpPr/>
          <p:nvPr/>
        </p:nvSpPr>
        <p:spPr>
          <a:xfrm flipH="false" flipV="false" rot="-8864444">
            <a:off x="4884269" y="4241360"/>
            <a:ext cx="2256359" cy="475887"/>
          </a:xfrm>
          <a:custGeom>
            <a:avLst/>
            <a:gdLst/>
            <a:ahLst/>
            <a:cxnLst/>
            <a:rect r="r" b="b" t="t" l="l"/>
            <a:pathLst>
              <a:path h="475887" w="2256359">
                <a:moveTo>
                  <a:pt x="0" y="0"/>
                </a:moveTo>
                <a:lnTo>
                  <a:pt x="2256360" y="0"/>
                </a:lnTo>
                <a:lnTo>
                  <a:pt x="2256360" y="475886"/>
                </a:lnTo>
                <a:lnTo>
                  <a:pt x="0" y="475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15877799" y="-1625565"/>
            <a:ext cx="4195722" cy="4305311"/>
          </a:xfrm>
          <a:custGeom>
            <a:avLst/>
            <a:gdLst/>
            <a:ahLst/>
            <a:cxnLst/>
            <a:rect r="r" b="b" t="t" l="l"/>
            <a:pathLst>
              <a:path h="4305311" w="4195722">
                <a:moveTo>
                  <a:pt x="0" y="0"/>
                </a:moveTo>
                <a:lnTo>
                  <a:pt x="4195722" y="0"/>
                </a:lnTo>
                <a:lnTo>
                  <a:pt x="4195722" y="4305311"/>
                </a:lnTo>
                <a:lnTo>
                  <a:pt x="0" y="4305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5495" y="7729961"/>
            <a:ext cx="4195722" cy="4305311"/>
          </a:xfrm>
          <a:custGeom>
            <a:avLst/>
            <a:gdLst/>
            <a:ahLst/>
            <a:cxnLst/>
            <a:rect r="r" b="b" t="t" l="l"/>
            <a:pathLst>
              <a:path h="4305311" w="4195722">
                <a:moveTo>
                  <a:pt x="0" y="0"/>
                </a:moveTo>
                <a:lnTo>
                  <a:pt x="4195722" y="0"/>
                </a:lnTo>
                <a:lnTo>
                  <a:pt x="4195722" y="4305312"/>
                </a:lnTo>
                <a:lnTo>
                  <a:pt x="0" y="4305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618527" y="2420100"/>
            <a:ext cx="10523552" cy="7063934"/>
          </a:xfrm>
          <a:custGeom>
            <a:avLst/>
            <a:gdLst/>
            <a:ahLst/>
            <a:cxnLst/>
            <a:rect r="r" b="b" t="t" l="l"/>
            <a:pathLst>
              <a:path h="7063934" w="10523552">
                <a:moveTo>
                  <a:pt x="0" y="0"/>
                </a:moveTo>
                <a:lnTo>
                  <a:pt x="10523551" y="0"/>
                </a:lnTo>
                <a:lnTo>
                  <a:pt x="10523551" y="7063934"/>
                </a:lnTo>
                <a:lnTo>
                  <a:pt x="0" y="7063934"/>
                </a:lnTo>
                <a:lnTo>
                  <a:pt x="0" y="0"/>
                </a:lnTo>
                <a:close/>
              </a:path>
            </a:pathLst>
          </a:custGeom>
          <a:blipFill>
            <a:blip r:embed="rId4"/>
            <a:stretch>
              <a:fillRect l="0" t="0" r="0" b="0"/>
            </a:stretch>
          </a:blipFill>
        </p:spPr>
      </p:sp>
      <p:sp>
        <p:nvSpPr>
          <p:cNvPr name="TextBox 5" id="5"/>
          <p:cNvSpPr txBox="true"/>
          <p:nvPr/>
        </p:nvSpPr>
        <p:spPr>
          <a:xfrm rot="0">
            <a:off x="1893382" y="1073591"/>
            <a:ext cx="12118377"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General</a:t>
            </a:r>
            <a:r>
              <a:rPr lang="en-US" b="true" sz="6500" strike="noStrike" u="none">
                <a:solidFill>
                  <a:srgbClr val="FFFFFF"/>
                </a:solidFill>
                <a:latin typeface="TT Supermolot Neue Bold"/>
                <a:ea typeface="TT Supermolot Neue Bold"/>
                <a:cs typeface="TT Supermolot Neue Bold"/>
                <a:sym typeface="TT Supermolot Neue Bold"/>
              </a:rPr>
              <a:t> Network Construction</a:t>
            </a:r>
          </a:p>
        </p:txBody>
      </p:sp>
      <p:sp>
        <p:nvSpPr>
          <p:cNvPr name="TextBox 6" id="6"/>
          <p:cNvSpPr txBox="true"/>
          <p:nvPr/>
        </p:nvSpPr>
        <p:spPr>
          <a:xfrm rot="0">
            <a:off x="134841" y="3251444"/>
            <a:ext cx="7640367" cy="2836808"/>
          </a:xfrm>
          <a:prstGeom prst="rect">
            <a:avLst/>
          </a:prstGeom>
        </p:spPr>
        <p:txBody>
          <a:bodyPr anchor="t" rtlCol="false" tIns="0" lIns="0" bIns="0" rIns="0">
            <a:spAutoFit/>
          </a:bodyPr>
          <a:lstStyle/>
          <a:p>
            <a:pPr algn="l">
              <a:lnSpc>
                <a:spcPts val="4545"/>
              </a:lnSpc>
              <a:spcBef>
                <a:spcPct val="0"/>
              </a:spcBef>
            </a:pPr>
            <a:r>
              <a:rPr lang="en-US" sz="3246" strike="noStrike" u="none">
                <a:solidFill>
                  <a:srgbClr val="FFFFFF"/>
                </a:solidFill>
                <a:latin typeface="Open Sans"/>
                <a:ea typeface="Open Sans"/>
                <a:cs typeface="Open Sans"/>
                <a:sym typeface="Open Sans"/>
              </a:rPr>
              <a:t>Each node represents an amino acid triplet. There are 21 amino acids, will give us 9261 triplets. </a:t>
            </a:r>
            <a:r>
              <a:rPr lang="en-US" sz="3246" strike="noStrike" u="none">
                <a:solidFill>
                  <a:srgbClr val="FFFFFF"/>
                </a:solidFill>
                <a:latin typeface="Open Sans"/>
                <a:ea typeface="Open Sans"/>
                <a:cs typeface="Open Sans"/>
                <a:sym typeface="Open Sans"/>
              </a:rPr>
              <a:t>Up to 60 edges per node represent all possible single-position substitutions.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15877799" y="-1625565"/>
            <a:ext cx="4195722" cy="4305311"/>
          </a:xfrm>
          <a:custGeom>
            <a:avLst/>
            <a:gdLst/>
            <a:ahLst/>
            <a:cxnLst/>
            <a:rect r="r" b="b" t="t" l="l"/>
            <a:pathLst>
              <a:path h="4305311" w="4195722">
                <a:moveTo>
                  <a:pt x="0" y="0"/>
                </a:moveTo>
                <a:lnTo>
                  <a:pt x="4195722" y="0"/>
                </a:lnTo>
                <a:lnTo>
                  <a:pt x="4195722" y="4305311"/>
                </a:lnTo>
                <a:lnTo>
                  <a:pt x="0" y="4305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5495" y="7729961"/>
            <a:ext cx="4195722" cy="4305311"/>
          </a:xfrm>
          <a:custGeom>
            <a:avLst/>
            <a:gdLst/>
            <a:ahLst/>
            <a:cxnLst/>
            <a:rect r="r" b="b" t="t" l="l"/>
            <a:pathLst>
              <a:path h="4305311" w="4195722">
                <a:moveTo>
                  <a:pt x="0" y="0"/>
                </a:moveTo>
                <a:lnTo>
                  <a:pt x="4195722" y="0"/>
                </a:lnTo>
                <a:lnTo>
                  <a:pt x="4195722" y="4305312"/>
                </a:lnTo>
                <a:lnTo>
                  <a:pt x="0" y="4305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9840927" y="6337904"/>
            <a:ext cx="2256359" cy="475887"/>
          </a:xfrm>
          <a:custGeom>
            <a:avLst/>
            <a:gdLst/>
            <a:ahLst/>
            <a:cxnLst/>
            <a:rect r="r" b="b" t="t" l="l"/>
            <a:pathLst>
              <a:path h="475887" w="2256359">
                <a:moveTo>
                  <a:pt x="0" y="0"/>
                </a:moveTo>
                <a:lnTo>
                  <a:pt x="2256359" y="0"/>
                </a:lnTo>
                <a:lnTo>
                  <a:pt x="2256359" y="475887"/>
                </a:lnTo>
                <a:lnTo>
                  <a:pt x="0" y="4758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287786" y="4593104"/>
            <a:ext cx="5507509" cy="4298544"/>
          </a:xfrm>
          <a:custGeom>
            <a:avLst/>
            <a:gdLst/>
            <a:ahLst/>
            <a:cxnLst/>
            <a:rect r="r" b="b" t="t" l="l"/>
            <a:pathLst>
              <a:path h="4298544" w="5507509">
                <a:moveTo>
                  <a:pt x="0" y="0"/>
                </a:moveTo>
                <a:lnTo>
                  <a:pt x="5507509" y="0"/>
                </a:lnTo>
                <a:lnTo>
                  <a:pt x="5507509" y="4298544"/>
                </a:lnTo>
                <a:lnTo>
                  <a:pt x="0" y="4298544"/>
                </a:lnTo>
                <a:lnTo>
                  <a:pt x="0" y="0"/>
                </a:lnTo>
                <a:close/>
              </a:path>
            </a:pathLst>
          </a:custGeom>
          <a:blipFill>
            <a:blip r:embed="rId6"/>
            <a:stretch>
              <a:fillRect l="0" t="0" r="0" b="0"/>
            </a:stretch>
          </a:blipFill>
        </p:spPr>
      </p:sp>
      <p:sp>
        <p:nvSpPr>
          <p:cNvPr name="TextBox 6" id="6"/>
          <p:cNvSpPr txBox="true"/>
          <p:nvPr/>
        </p:nvSpPr>
        <p:spPr>
          <a:xfrm rot="0">
            <a:off x="1893382" y="1073591"/>
            <a:ext cx="7947545"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Network</a:t>
            </a:r>
            <a:r>
              <a:rPr lang="en-US" b="true" sz="6500" strike="noStrike" u="none">
                <a:solidFill>
                  <a:srgbClr val="FFFFFF"/>
                </a:solidFill>
                <a:latin typeface="TT Supermolot Neue Bold"/>
                <a:ea typeface="TT Supermolot Neue Bold"/>
                <a:cs typeface="TT Supermolot Neue Bold"/>
                <a:sym typeface="TT Supermolot Neue Bold"/>
              </a:rPr>
              <a:t> Population</a:t>
            </a:r>
          </a:p>
        </p:txBody>
      </p:sp>
      <p:sp>
        <p:nvSpPr>
          <p:cNvPr name="TextBox 7" id="7"/>
          <p:cNvSpPr txBox="true"/>
          <p:nvPr/>
        </p:nvSpPr>
        <p:spPr>
          <a:xfrm rot="0">
            <a:off x="1028700" y="2613071"/>
            <a:ext cx="11444561" cy="2836808"/>
          </a:xfrm>
          <a:prstGeom prst="rect">
            <a:avLst/>
          </a:prstGeom>
        </p:spPr>
        <p:txBody>
          <a:bodyPr anchor="t" rtlCol="false" tIns="0" lIns="0" bIns="0" rIns="0">
            <a:spAutoFit/>
          </a:bodyPr>
          <a:lstStyle/>
          <a:p>
            <a:pPr algn="l">
              <a:lnSpc>
                <a:spcPts val="4545"/>
              </a:lnSpc>
              <a:spcBef>
                <a:spcPct val="0"/>
              </a:spcBef>
            </a:pPr>
            <a:r>
              <a:rPr lang="en-US" sz="3246" strike="noStrike" u="none">
                <a:solidFill>
                  <a:srgbClr val="FFFFFF"/>
                </a:solidFill>
                <a:latin typeface="Open Sans"/>
                <a:ea typeface="Open Sans"/>
                <a:cs typeface="Open Sans"/>
                <a:sym typeface="Open Sans"/>
              </a:rPr>
              <a:t>Nucleotide sequences are</a:t>
            </a:r>
            <a:r>
              <a:rPr lang="en-US" sz="3246" strike="noStrike" u="none">
                <a:solidFill>
                  <a:srgbClr val="FFFFFF"/>
                </a:solidFill>
                <a:latin typeface="Open Sans"/>
                <a:ea typeface="Open Sans"/>
                <a:cs typeface="Open Sans"/>
                <a:sym typeface="Open Sans"/>
              </a:rPr>
              <a:t> loaded from the dataset and</a:t>
            </a:r>
            <a:r>
              <a:rPr lang="en-US" sz="3246" strike="noStrike" u="none">
                <a:solidFill>
                  <a:srgbClr val="FFFFFF"/>
                </a:solidFill>
                <a:latin typeface="Open Sans"/>
                <a:ea typeface="Open Sans"/>
                <a:cs typeface="Open Sans"/>
                <a:sym typeface="Open Sans"/>
              </a:rPr>
              <a:t> translated into amino acids, split into triplets, and each triplet's frequency is counted and mapped to the corresponding node. Each triplet</a:t>
            </a:r>
            <a:r>
              <a:rPr lang="en-US" sz="3246" strike="noStrike" u="none">
                <a:solidFill>
                  <a:srgbClr val="FFFFFF"/>
                </a:solidFill>
                <a:latin typeface="Open Sans"/>
                <a:ea typeface="Open Sans"/>
                <a:cs typeface="Open Sans"/>
                <a:sym typeface="Open Sans"/>
              </a:rPr>
              <a:t> will be saved with it’s dataset details.</a:t>
            </a:r>
          </a:p>
        </p:txBody>
      </p:sp>
      <p:sp>
        <p:nvSpPr>
          <p:cNvPr name="TextBox 8" id="8"/>
          <p:cNvSpPr txBox="true"/>
          <p:nvPr/>
        </p:nvSpPr>
        <p:spPr>
          <a:xfrm rot="0">
            <a:off x="392366" y="5606255"/>
            <a:ext cx="9254696" cy="1853461"/>
          </a:xfrm>
          <a:prstGeom prst="rect">
            <a:avLst/>
          </a:prstGeom>
        </p:spPr>
        <p:txBody>
          <a:bodyPr anchor="t" rtlCol="false" tIns="0" lIns="0" bIns="0" rIns="0">
            <a:spAutoFit/>
          </a:bodyPr>
          <a:lstStyle/>
          <a:p>
            <a:pPr algn="ctr">
              <a:lnSpc>
                <a:spcPts val="4940"/>
              </a:lnSpc>
              <a:spcBef>
                <a:spcPct val="0"/>
              </a:spcBef>
            </a:pPr>
            <a:r>
              <a:rPr lang="en-US" b="true" sz="3529">
                <a:solidFill>
                  <a:srgbClr val="FFFFFF"/>
                </a:solidFill>
                <a:latin typeface="TT Supermolot Neue Bold"/>
                <a:ea typeface="TT Supermolot Neue Bold"/>
                <a:cs typeface="TT Supermolot Neue Bold"/>
                <a:sym typeface="TT Supermolot Neue Bold"/>
              </a:rPr>
              <a:t>AAACTGGTC</a:t>
            </a:r>
            <a:r>
              <a:rPr lang="en-US" b="true" sz="3529">
                <a:solidFill>
                  <a:srgbClr val="00DDF3"/>
                </a:solidFill>
                <a:latin typeface="TT Supermolot Neue Bold"/>
                <a:ea typeface="TT Supermolot Neue Bold"/>
                <a:cs typeface="TT Supermolot Neue Bold"/>
                <a:sym typeface="TT Supermolot Neue Bold"/>
              </a:rPr>
              <a:t>GTAGACGCT</a:t>
            </a:r>
            <a:r>
              <a:rPr lang="en-US" b="true" sz="3529">
                <a:solidFill>
                  <a:srgbClr val="FFFFFF"/>
                </a:solidFill>
                <a:latin typeface="TT Supermolot Neue Bold"/>
                <a:ea typeface="TT Supermolot Neue Bold"/>
                <a:cs typeface="TT Supermolot Neue Bold"/>
                <a:sym typeface="TT Supermolot Neue Bold"/>
              </a:rPr>
              <a:t>ACTTAGGT</a:t>
            </a:r>
            <a:r>
              <a:rPr lang="en-US" b="true" sz="3529">
                <a:solidFill>
                  <a:srgbClr val="00DDF3"/>
                </a:solidFill>
                <a:latin typeface="TT Supermolot Neue Bold"/>
                <a:ea typeface="TT Supermolot Neue Bold"/>
                <a:cs typeface="TT Supermolot Neue Bold"/>
                <a:sym typeface="TT Supermolot Neue Bold"/>
              </a:rPr>
              <a:t>GTAGACGCT</a:t>
            </a:r>
            <a:r>
              <a:rPr lang="en-US" b="true" sz="3529">
                <a:solidFill>
                  <a:srgbClr val="FFFFFF"/>
                </a:solidFill>
                <a:latin typeface="TT Supermolot Neue Bold"/>
                <a:ea typeface="TT Supermolot Neue Bold"/>
                <a:cs typeface="TT Supermolot Neue Bold"/>
                <a:sym typeface="TT Supermolot Neue Bold"/>
              </a:rPr>
              <a:t>GGGCAGCTC</a:t>
            </a:r>
            <a:r>
              <a:rPr lang="en-US" b="true" sz="3529">
                <a:solidFill>
                  <a:srgbClr val="00DDF3"/>
                </a:solidFill>
                <a:latin typeface="TT Supermolot Neue Bold"/>
                <a:ea typeface="TT Supermolot Neue Bold"/>
                <a:cs typeface="TT Supermolot Neue Bold"/>
                <a:sym typeface="TT Supermolot Neue Bold"/>
              </a:rPr>
              <a:t>GTAGACGCT</a:t>
            </a:r>
            <a:r>
              <a:rPr lang="en-US" b="true" sz="3529">
                <a:solidFill>
                  <a:srgbClr val="FFFFFF"/>
                </a:solidFill>
                <a:latin typeface="TT Supermolot Neue Bold"/>
                <a:ea typeface="TT Supermolot Neue Bold"/>
                <a:cs typeface="TT Supermolot Neue Bold"/>
                <a:sym typeface="TT Supermolot Neue Bold"/>
              </a:rPr>
              <a:t>GGGTGTTATACGCGACCATATGACCTCTGATCCAA</a:t>
            </a:r>
            <a:r>
              <a:rPr lang="en-US" b="true" sz="3529">
                <a:solidFill>
                  <a:srgbClr val="00DDF3"/>
                </a:solidFill>
                <a:latin typeface="TT Supermolot Neue Bold"/>
                <a:ea typeface="TT Supermolot Neue Bold"/>
                <a:cs typeface="TT Supermolot Neue Bold"/>
                <a:sym typeface="TT Supermolot Neue Bold"/>
              </a:rPr>
              <a:t>GTAGACGCT</a:t>
            </a:r>
            <a:r>
              <a:rPr lang="en-US" b="true" sz="3529">
                <a:solidFill>
                  <a:srgbClr val="FFFFFF"/>
                </a:solidFill>
                <a:latin typeface="TT Supermolot Neue Bold"/>
                <a:ea typeface="TT Supermolot Neue Bold"/>
                <a:cs typeface="TT Supermolot Neue Bold"/>
                <a:sym typeface="TT Supermolot Neue Bold"/>
              </a:rPr>
              <a:t>TGT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15877799" y="-1625565"/>
            <a:ext cx="4195722" cy="4305311"/>
          </a:xfrm>
          <a:custGeom>
            <a:avLst/>
            <a:gdLst/>
            <a:ahLst/>
            <a:cxnLst/>
            <a:rect r="r" b="b" t="t" l="l"/>
            <a:pathLst>
              <a:path h="4305311" w="4195722">
                <a:moveTo>
                  <a:pt x="0" y="0"/>
                </a:moveTo>
                <a:lnTo>
                  <a:pt x="4195722" y="0"/>
                </a:lnTo>
                <a:lnTo>
                  <a:pt x="4195722" y="4305311"/>
                </a:lnTo>
                <a:lnTo>
                  <a:pt x="0" y="4305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5495" y="7729961"/>
            <a:ext cx="4195722" cy="4305311"/>
          </a:xfrm>
          <a:custGeom>
            <a:avLst/>
            <a:gdLst/>
            <a:ahLst/>
            <a:cxnLst/>
            <a:rect r="r" b="b" t="t" l="l"/>
            <a:pathLst>
              <a:path h="4305311" w="4195722">
                <a:moveTo>
                  <a:pt x="0" y="0"/>
                </a:moveTo>
                <a:lnTo>
                  <a:pt x="4195722" y="0"/>
                </a:lnTo>
                <a:lnTo>
                  <a:pt x="4195722" y="4305312"/>
                </a:lnTo>
                <a:lnTo>
                  <a:pt x="0" y="4305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725480" y="5514498"/>
            <a:ext cx="10046299" cy="3977091"/>
          </a:xfrm>
          <a:custGeom>
            <a:avLst/>
            <a:gdLst/>
            <a:ahLst/>
            <a:cxnLst/>
            <a:rect r="r" b="b" t="t" l="l"/>
            <a:pathLst>
              <a:path h="3977091" w="10046299">
                <a:moveTo>
                  <a:pt x="0" y="0"/>
                </a:moveTo>
                <a:lnTo>
                  <a:pt x="10046298" y="0"/>
                </a:lnTo>
                <a:lnTo>
                  <a:pt x="10046298" y="3977091"/>
                </a:lnTo>
                <a:lnTo>
                  <a:pt x="0" y="3977091"/>
                </a:lnTo>
                <a:lnTo>
                  <a:pt x="0" y="0"/>
                </a:lnTo>
                <a:close/>
              </a:path>
            </a:pathLst>
          </a:custGeom>
          <a:blipFill>
            <a:blip r:embed="rId4"/>
            <a:stretch>
              <a:fillRect l="0" t="0" r="0" b="0"/>
            </a:stretch>
          </a:blipFill>
        </p:spPr>
      </p:sp>
      <p:sp>
        <p:nvSpPr>
          <p:cNvPr name="TextBox 5" id="5"/>
          <p:cNvSpPr txBox="true"/>
          <p:nvPr/>
        </p:nvSpPr>
        <p:spPr>
          <a:xfrm rot="0">
            <a:off x="1893382" y="1073591"/>
            <a:ext cx="7947545"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Netwo</a:t>
            </a:r>
            <a:r>
              <a:rPr lang="en-US" b="true" sz="6500" strike="noStrike" u="none">
                <a:solidFill>
                  <a:srgbClr val="FFFFFF"/>
                </a:solidFill>
                <a:latin typeface="TT Supermolot Neue Bold"/>
                <a:ea typeface="TT Supermolot Neue Bold"/>
                <a:cs typeface="TT Supermolot Neue Bold"/>
                <a:sym typeface="TT Supermolot Neue Bold"/>
              </a:rPr>
              <a:t>rk Comparison</a:t>
            </a:r>
          </a:p>
        </p:txBody>
      </p:sp>
      <p:sp>
        <p:nvSpPr>
          <p:cNvPr name="TextBox 6" id="6"/>
          <p:cNvSpPr txBox="true"/>
          <p:nvPr/>
        </p:nvSpPr>
        <p:spPr>
          <a:xfrm rot="0">
            <a:off x="1177022" y="2613071"/>
            <a:ext cx="9896726" cy="2266289"/>
          </a:xfrm>
          <a:prstGeom prst="rect">
            <a:avLst/>
          </a:prstGeom>
        </p:spPr>
        <p:txBody>
          <a:bodyPr anchor="t" rtlCol="false" tIns="0" lIns="0" bIns="0" rIns="0">
            <a:spAutoFit/>
          </a:bodyPr>
          <a:lstStyle/>
          <a:p>
            <a:pPr algn="l">
              <a:lnSpc>
                <a:spcPts val="4545"/>
              </a:lnSpc>
              <a:spcBef>
                <a:spcPct val="0"/>
              </a:spcBef>
            </a:pPr>
            <a:r>
              <a:rPr lang="en-US" sz="3246" strike="noStrike" u="none">
                <a:solidFill>
                  <a:srgbClr val="FFFFFF"/>
                </a:solidFill>
                <a:latin typeface="Open Sans"/>
                <a:ea typeface="Open Sans"/>
                <a:cs typeface="Open Sans"/>
                <a:sym typeface="Open Sans"/>
              </a:rPr>
              <a:t> Compare two networks (e.g., CDR1 vs. CDR3 or same region across populations) using a network comparison algorithm to detect structural and frequency-based differences.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1934662" y="8116395"/>
            <a:ext cx="4195722" cy="4305311"/>
          </a:xfrm>
          <a:custGeom>
            <a:avLst/>
            <a:gdLst/>
            <a:ahLst/>
            <a:cxnLst/>
            <a:rect r="r" b="b" t="t" l="l"/>
            <a:pathLst>
              <a:path h="4305311" w="4195722">
                <a:moveTo>
                  <a:pt x="0" y="0"/>
                </a:moveTo>
                <a:lnTo>
                  <a:pt x="4195722" y="0"/>
                </a:lnTo>
                <a:lnTo>
                  <a:pt x="4195722" y="4305311"/>
                </a:lnTo>
                <a:lnTo>
                  <a:pt x="0" y="4305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36484" y="465737"/>
            <a:ext cx="8789478" cy="9355527"/>
          </a:xfrm>
          <a:custGeom>
            <a:avLst/>
            <a:gdLst/>
            <a:ahLst/>
            <a:cxnLst/>
            <a:rect r="r" b="b" t="t" l="l"/>
            <a:pathLst>
              <a:path h="9355527" w="8789478">
                <a:moveTo>
                  <a:pt x="0" y="0"/>
                </a:moveTo>
                <a:lnTo>
                  <a:pt x="8789478" y="0"/>
                </a:lnTo>
                <a:lnTo>
                  <a:pt x="8789478" y="9355526"/>
                </a:lnTo>
                <a:lnTo>
                  <a:pt x="0" y="9355526"/>
                </a:lnTo>
                <a:lnTo>
                  <a:pt x="0" y="0"/>
                </a:lnTo>
                <a:close/>
              </a:path>
            </a:pathLst>
          </a:custGeom>
          <a:blipFill>
            <a:blip r:embed="rId4"/>
            <a:stretch>
              <a:fillRect l="0" t="0" r="0" b="0"/>
            </a:stretch>
          </a:blipFill>
        </p:spPr>
      </p:sp>
      <p:sp>
        <p:nvSpPr>
          <p:cNvPr name="TextBox 4" id="4"/>
          <p:cNvSpPr txBox="true"/>
          <p:nvPr/>
        </p:nvSpPr>
        <p:spPr>
          <a:xfrm rot="0">
            <a:off x="874862" y="393740"/>
            <a:ext cx="6139672"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Activity D</a:t>
            </a:r>
            <a:r>
              <a:rPr lang="en-US" b="true" sz="6500" strike="noStrike" u="none">
                <a:solidFill>
                  <a:srgbClr val="FFFFFF"/>
                </a:solidFill>
                <a:latin typeface="TT Supermolot Neue Bold"/>
                <a:ea typeface="TT Supermolot Neue Bold"/>
                <a:cs typeface="TT Supermolot Neue Bold"/>
                <a:sym typeface="TT Supermolot Neue Bold"/>
              </a:rPr>
              <a:t>iagram </a:t>
            </a:r>
          </a:p>
        </p:txBody>
      </p:sp>
      <p:sp>
        <p:nvSpPr>
          <p:cNvPr name="TextBox 5" id="5"/>
          <p:cNvSpPr txBox="true"/>
          <p:nvPr/>
        </p:nvSpPr>
        <p:spPr>
          <a:xfrm rot="0">
            <a:off x="874862" y="1704932"/>
            <a:ext cx="7489028" cy="6082335"/>
          </a:xfrm>
          <a:prstGeom prst="rect">
            <a:avLst/>
          </a:prstGeom>
        </p:spPr>
        <p:txBody>
          <a:bodyPr anchor="t" rtlCol="false" tIns="0" lIns="0" bIns="0" rIns="0">
            <a:spAutoFit/>
          </a:bodyPr>
          <a:lstStyle/>
          <a:p>
            <a:pPr algn="l" marL="570925" indent="-285463" lvl="1">
              <a:lnSpc>
                <a:spcPts val="3702"/>
              </a:lnSpc>
              <a:spcBef>
                <a:spcPct val="0"/>
              </a:spcBef>
              <a:buFont typeface="Arial"/>
              <a:buChar char="•"/>
            </a:pPr>
            <a:r>
              <a:rPr lang="en-US" sz="2644">
                <a:solidFill>
                  <a:srgbClr val="FFFFFF"/>
                </a:solidFill>
                <a:latin typeface="Open Sans"/>
                <a:ea typeface="Open Sans"/>
                <a:cs typeface="Open Sans"/>
                <a:sym typeface="Open Sans"/>
              </a:rPr>
              <a:t>User initiates the process by uploading data </a:t>
            </a:r>
          </a:p>
          <a:p>
            <a:pPr algn="l" marL="570925" indent="-285463" lvl="1">
              <a:lnSpc>
                <a:spcPts val="3702"/>
              </a:lnSpc>
              <a:spcBef>
                <a:spcPct val="0"/>
              </a:spcBef>
              <a:buFont typeface="Arial"/>
              <a:buChar char="•"/>
            </a:pPr>
            <a:r>
              <a:rPr lang="en-US" sz="2644" strike="noStrike" u="none">
                <a:solidFill>
                  <a:srgbClr val="FFFFFF"/>
                </a:solidFill>
                <a:latin typeface="Open Sans"/>
                <a:ea typeface="Open Sans"/>
                <a:cs typeface="Open Sans"/>
                <a:sym typeface="Open Sans"/>
              </a:rPr>
              <a:t>DataManager loads antibody sequences and metadata</a:t>
            </a:r>
          </a:p>
          <a:p>
            <a:pPr algn="l" marL="570925" indent="-285463" lvl="1">
              <a:lnSpc>
                <a:spcPts val="3702"/>
              </a:lnSpc>
              <a:spcBef>
                <a:spcPct val="0"/>
              </a:spcBef>
              <a:buFont typeface="Arial"/>
              <a:buChar char="•"/>
            </a:pPr>
            <a:r>
              <a:rPr lang="en-US" sz="2644" strike="noStrike" u="none">
                <a:solidFill>
                  <a:srgbClr val="FFFFFF"/>
                </a:solidFill>
                <a:latin typeface="Open Sans"/>
                <a:ea typeface="Open Sans"/>
                <a:cs typeface="Open Sans"/>
                <a:sym typeface="Open Sans"/>
              </a:rPr>
              <a:t>G</a:t>
            </a:r>
            <a:r>
              <a:rPr lang="en-US" sz="2644" strike="noStrike" u="none">
                <a:solidFill>
                  <a:srgbClr val="FFFFFF"/>
                </a:solidFill>
                <a:latin typeface="Open Sans"/>
                <a:ea typeface="Open Sans"/>
                <a:cs typeface="Open Sans"/>
                <a:sym typeface="Open Sans"/>
              </a:rPr>
              <a:t>raphBuilder constructs similarity network from extracted triplets</a:t>
            </a:r>
          </a:p>
          <a:p>
            <a:pPr algn="l" marL="570925" indent="-285463" lvl="1">
              <a:lnSpc>
                <a:spcPts val="3702"/>
              </a:lnSpc>
              <a:spcBef>
                <a:spcPct val="0"/>
              </a:spcBef>
              <a:buFont typeface="Arial"/>
              <a:buChar char="•"/>
            </a:pPr>
            <a:r>
              <a:rPr lang="en-US" sz="2644" strike="noStrike" u="none">
                <a:solidFill>
                  <a:srgbClr val="FFFFFF"/>
                </a:solidFill>
                <a:latin typeface="Open Sans"/>
                <a:ea typeface="Open Sans"/>
                <a:cs typeface="Open Sans"/>
                <a:sym typeface="Open Sans"/>
              </a:rPr>
              <a:t>AnalysisProcessor generates group profile</a:t>
            </a:r>
            <a:r>
              <a:rPr lang="en-US" sz="2644" strike="noStrike" u="none">
                <a:solidFill>
                  <a:srgbClr val="FFFFFF"/>
                </a:solidFill>
                <a:latin typeface="Open Sans"/>
                <a:ea typeface="Open Sans"/>
                <a:cs typeface="Open Sans"/>
                <a:sym typeface="Open Sans"/>
              </a:rPr>
              <a:t>s</a:t>
            </a:r>
            <a:r>
              <a:rPr lang="en-US" sz="2644" strike="noStrike" u="none">
                <a:solidFill>
                  <a:srgbClr val="FFFFFF"/>
                </a:solidFill>
                <a:latin typeface="Open Sans"/>
                <a:ea typeface="Open Sans"/>
                <a:cs typeface="Open Sans"/>
                <a:sym typeface="Open Sans"/>
              </a:rPr>
              <a:t> </a:t>
            </a:r>
            <a:r>
              <a:rPr lang="en-US" sz="2644" strike="noStrike" u="none">
                <a:solidFill>
                  <a:srgbClr val="FFFFFF"/>
                </a:solidFill>
                <a:latin typeface="Open Sans"/>
                <a:ea typeface="Open Sans"/>
                <a:cs typeface="Open Sans"/>
                <a:sym typeface="Open Sans"/>
              </a:rPr>
              <a:t>a</a:t>
            </a:r>
            <a:r>
              <a:rPr lang="en-US" sz="2644" strike="noStrike" u="none">
                <a:solidFill>
                  <a:srgbClr val="FFFFFF"/>
                </a:solidFill>
                <a:latin typeface="Open Sans"/>
                <a:ea typeface="Open Sans"/>
                <a:cs typeface="Open Sans"/>
                <a:sym typeface="Open Sans"/>
              </a:rPr>
              <a:t>n</a:t>
            </a:r>
            <a:r>
              <a:rPr lang="en-US" sz="2644" strike="noStrike" u="none">
                <a:solidFill>
                  <a:srgbClr val="FFFFFF"/>
                </a:solidFill>
                <a:latin typeface="Open Sans"/>
                <a:ea typeface="Open Sans"/>
                <a:cs typeface="Open Sans"/>
                <a:sym typeface="Open Sans"/>
              </a:rPr>
              <a:t>d </a:t>
            </a:r>
            <a:r>
              <a:rPr lang="en-US" sz="2644" strike="noStrike" u="none">
                <a:solidFill>
                  <a:srgbClr val="FFFFFF"/>
                </a:solidFill>
                <a:latin typeface="Open Sans"/>
                <a:ea typeface="Open Sans"/>
                <a:cs typeface="Open Sans"/>
                <a:sym typeface="Open Sans"/>
              </a:rPr>
              <a:t>st</a:t>
            </a:r>
            <a:r>
              <a:rPr lang="en-US" sz="2644" strike="noStrike" u="none">
                <a:solidFill>
                  <a:srgbClr val="FFFFFF"/>
                </a:solidFill>
                <a:latin typeface="Open Sans"/>
                <a:ea typeface="Open Sans"/>
                <a:cs typeface="Open Sans"/>
                <a:sym typeface="Open Sans"/>
              </a:rPr>
              <a:t>atisti</a:t>
            </a:r>
            <a:r>
              <a:rPr lang="en-US" sz="2644" strike="noStrike" u="none">
                <a:solidFill>
                  <a:srgbClr val="FFFFFF"/>
                </a:solidFill>
                <a:latin typeface="Open Sans"/>
                <a:ea typeface="Open Sans"/>
                <a:cs typeface="Open Sans"/>
                <a:sym typeface="Open Sans"/>
              </a:rPr>
              <a:t>c</a:t>
            </a:r>
            <a:r>
              <a:rPr lang="en-US" sz="2644" strike="noStrike" u="none">
                <a:solidFill>
                  <a:srgbClr val="FFFFFF"/>
                </a:solidFill>
                <a:latin typeface="Open Sans"/>
                <a:ea typeface="Open Sans"/>
                <a:cs typeface="Open Sans"/>
                <a:sym typeface="Open Sans"/>
              </a:rPr>
              <a:t>s</a:t>
            </a:r>
          </a:p>
          <a:p>
            <a:pPr algn="l" marL="570925" indent="-285463" lvl="1">
              <a:lnSpc>
                <a:spcPts val="3702"/>
              </a:lnSpc>
              <a:spcBef>
                <a:spcPct val="0"/>
              </a:spcBef>
              <a:buFont typeface="Arial"/>
              <a:buChar char="•"/>
            </a:pPr>
            <a:r>
              <a:rPr lang="en-US" sz="2644" strike="noStrike" u="none">
                <a:solidFill>
                  <a:srgbClr val="FFFFFF"/>
                </a:solidFill>
                <a:latin typeface="Open Sans"/>
                <a:ea typeface="Open Sans"/>
                <a:cs typeface="Open Sans"/>
                <a:sym typeface="Open Sans"/>
              </a:rPr>
              <a:t>V</a:t>
            </a:r>
            <a:r>
              <a:rPr lang="en-US" sz="2644" strike="noStrike" u="none">
                <a:solidFill>
                  <a:srgbClr val="FFFFFF"/>
                </a:solidFill>
                <a:latin typeface="Open Sans"/>
                <a:ea typeface="Open Sans"/>
                <a:cs typeface="Open Sans"/>
                <a:sym typeface="Open Sans"/>
              </a:rPr>
              <a:t>isualizer displays the graph and interaction options</a:t>
            </a:r>
          </a:p>
          <a:p>
            <a:pPr algn="l" marL="570925" indent="-285463" lvl="1">
              <a:lnSpc>
                <a:spcPts val="3702"/>
              </a:lnSpc>
              <a:spcBef>
                <a:spcPct val="0"/>
              </a:spcBef>
              <a:buFont typeface="Arial"/>
              <a:buChar char="•"/>
            </a:pPr>
            <a:r>
              <a:rPr lang="en-US" sz="2644" strike="noStrike" u="none">
                <a:solidFill>
                  <a:srgbClr val="FFFFFF"/>
                </a:solidFill>
                <a:latin typeface="Open Sans"/>
                <a:ea typeface="Open Sans"/>
                <a:cs typeface="Open Sans"/>
                <a:sym typeface="Open Sans"/>
              </a:rPr>
              <a:t>Comparator compares profiles across groups</a:t>
            </a:r>
          </a:p>
          <a:p>
            <a:pPr algn="l" marL="570925" indent="-285463" lvl="1">
              <a:lnSpc>
                <a:spcPts val="3702"/>
              </a:lnSpc>
              <a:spcBef>
                <a:spcPct val="0"/>
              </a:spcBef>
              <a:buFont typeface="Arial"/>
              <a:buChar char="•"/>
            </a:pPr>
            <a:r>
              <a:rPr lang="en-US" sz="2644" strike="noStrike" u="none">
                <a:solidFill>
                  <a:srgbClr val="FFFFFF"/>
                </a:solidFill>
                <a:latin typeface="Open Sans"/>
                <a:ea typeface="Open Sans"/>
                <a:cs typeface="Open Sans"/>
                <a:sym typeface="Open Sans"/>
              </a:rPr>
              <a:t>Exporter allows download of profile data and results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grpSp>
        <p:nvGrpSpPr>
          <p:cNvPr name="Group 2" id="2"/>
          <p:cNvGrpSpPr/>
          <p:nvPr/>
        </p:nvGrpSpPr>
        <p:grpSpPr>
          <a:xfrm rot="0">
            <a:off x="10310257" y="1828263"/>
            <a:ext cx="7651204" cy="7629801"/>
            <a:chOff x="0" y="0"/>
            <a:chExt cx="1605499" cy="1601008"/>
          </a:xfrm>
        </p:grpSpPr>
        <p:sp>
          <p:nvSpPr>
            <p:cNvPr name="Freeform 3" id="3"/>
            <p:cNvSpPr/>
            <p:nvPr/>
          </p:nvSpPr>
          <p:spPr>
            <a:xfrm flipH="false" flipV="false" rot="0">
              <a:off x="0" y="0"/>
              <a:ext cx="1605499" cy="1601008"/>
            </a:xfrm>
            <a:custGeom>
              <a:avLst/>
              <a:gdLst/>
              <a:ahLst/>
              <a:cxnLst/>
              <a:rect r="r" b="b" t="t" l="l"/>
              <a:pathLst>
                <a:path h="1601008" w="1605499">
                  <a:moveTo>
                    <a:pt x="0" y="0"/>
                  </a:moveTo>
                  <a:lnTo>
                    <a:pt x="1605499" y="0"/>
                  </a:lnTo>
                  <a:lnTo>
                    <a:pt x="1605499" y="1601008"/>
                  </a:lnTo>
                  <a:lnTo>
                    <a:pt x="0" y="1601008"/>
                  </a:lnTo>
                  <a:close/>
                </a:path>
              </a:pathLst>
            </a:custGeom>
            <a:blipFill>
              <a:blip r:embed="rId2"/>
              <a:stretch>
                <a:fillRect l="0" t="-140" r="0" b="-140"/>
              </a:stretch>
            </a:blipFill>
          </p:spPr>
        </p:sp>
      </p:grpSp>
      <p:sp>
        <p:nvSpPr>
          <p:cNvPr name="Freeform 4" id="4"/>
          <p:cNvSpPr/>
          <p:nvPr/>
        </p:nvSpPr>
        <p:spPr>
          <a:xfrm flipH="false" flipV="true" rot="5400000">
            <a:off x="10538533" y="1005477"/>
            <a:ext cx="1907839" cy="3038039"/>
          </a:xfrm>
          <a:custGeom>
            <a:avLst/>
            <a:gdLst/>
            <a:ahLst/>
            <a:cxnLst/>
            <a:rect r="r" b="b" t="t" l="l"/>
            <a:pathLst>
              <a:path h="3038039" w="1907839">
                <a:moveTo>
                  <a:pt x="0" y="3038039"/>
                </a:moveTo>
                <a:lnTo>
                  <a:pt x="1907840" y="3038039"/>
                </a:lnTo>
                <a:lnTo>
                  <a:pt x="1907840" y="0"/>
                </a:lnTo>
                <a:lnTo>
                  <a:pt x="0" y="0"/>
                </a:lnTo>
                <a:lnTo>
                  <a:pt x="0" y="303803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282604" y="118701"/>
            <a:ext cx="14976696" cy="1113703"/>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User</a:t>
            </a:r>
            <a:r>
              <a:rPr lang="en-US" b="true" sz="6500">
                <a:solidFill>
                  <a:srgbClr val="FFFFFF"/>
                </a:solidFill>
                <a:latin typeface="TT Supermolot Neue Bold"/>
                <a:ea typeface="TT Supermolot Neue Bold"/>
                <a:cs typeface="TT Supermolot Neue Bold"/>
                <a:sym typeface="TT Supermolot Neue Bold"/>
              </a:rPr>
              <a:t> Interface- Sequence Loader</a:t>
            </a:r>
          </a:p>
        </p:txBody>
      </p:sp>
      <p:sp>
        <p:nvSpPr>
          <p:cNvPr name="TextBox 6" id="6"/>
          <p:cNvSpPr txBox="true"/>
          <p:nvPr/>
        </p:nvSpPr>
        <p:spPr>
          <a:xfrm rot="0">
            <a:off x="510717" y="2190251"/>
            <a:ext cx="8633283" cy="4687795"/>
          </a:xfrm>
          <a:prstGeom prst="rect">
            <a:avLst/>
          </a:prstGeom>
        </p:spPr>
        <p:txBody>
          <a:bodyPr anchor="t" rtlCol="false" tIns="0" lIns="0" bIns="0" rIns="0">
            <a:spAutoFit/>
          </a:bodyPr>
          <a:lstStyle/>
          <a:p>
            <a:pPr algn="l" marL="715582" indent="-357791" lvl="1">
              <a:lnSpc>
                <a:spcPts val="4640"/>
              </a:lnSpc>
              <a:spcBef>
                <a:spcPct val="0"/>
              </a:spcBef>
              <a:buFont typeface="Arial"/>
              <a:buChar char="•"/>
            </a:pPr>
            <a:r>
              <a:rPr lang="en-US" sz="3314">
                <a:solidFill>
                  <a:srgbClr val="FFFFFF"/>
                </a:solidFill>
                <a:latin typeface="Open Sans"/>
                <a:ea typeface="Open Sans"/>
                <a:cs typeface="Open Sans"/>
                <a:sym typeface="Open Sans"/>
              </a:rPr>
              <a:t>Upload sect</a:t>
            </a:r>
            <a:r>
              <a:rPr lang="en-US" sz="3314" strike="noStrike" u="none">
                <a:solidFill>
                  <a:srgbClr val="FFFFFF"/>
                </a:solidFill>
                <a:latin typeface="Open Sans"/>
                <a:ea typeface="Open Sans"/>
                <a:cs typeface="Open Sans"/>
                <a:sym typeface="Open Sans"/>
              </a:rPr>
              <a:t>ion allows users to drag &amp; drop or browse for a sequence file</a:t>
            </a:r>
          </a:p>
          <a:p>
            <a:pPr algn="l" marL="715582" indent="-357791" lvl="1">
              <a:lnSpc>
                <a:spcPts val="4640"/>
              </a:lnSpc>
              <a:buFont typeface="Arial"/>
              <a:buChar char="•"/>
            </a:pPr>
            <a:r>
              <a:rPr lang="en-US" sz="3314" strike="noStrike" u="none">
                <a:solidFill>
                  <a:srgbClr val="FFFFFF"/>
                </a:solidFill>
                <a:latin typeface="Open Sans"/>
                <a:ea typeface="Open Sans"/>
                <a:cs typeface="Open Sans"/>
                <a:sym typeface="Open Sans"/>
              </a:rPr>
              <a:t>Metadata Preview summarizes key experimental context</a:t>
            </a:r>
            <a:r>
              <a:rPr lang="en-US" sz="3314" strike="noStrike" u="none">
                <a:solidFill>
                  <a:srgbClr val="FFFFFF"/>
                </a:solidFill>
                <a:latin typeface="Open Sans"/>
                <a:ea typeface="Open Sans"/>
                <a:cs typeface="Open Sans"/>
                <a:sym typeface="Open Sans"/>
              </a:rPr>
              <a:t>.</a:t>
            </a:r>
          </a:p>
          <a:p>
            <a:pPr algn="l" marL="715582" indent="-357791" lvl="1">
              <a:lnSpc>
                <a:spcPts val="4640"/>
              </a:lnSpc>
              <a:buFont typeface="Arial"/>
              <a:buChar char="•"/>
            </a:pPr>
            <a:r>
              <a:rPr lang="en-US" sz="3314" strike="noStrike" u="none">
                <a:solidFill>
                  <a:srgbClr val="FFFFFF"/>
                </a:solidFill>
                <a:latin typeface="Open Sans"/>
                <a:ea typeface="Open Sans"/>
                <a:cs typeface="Open Sans"/>
                <a:sym typeface="Open Sans"/>
              </a:rPr>
              <a:t>Dropdown to annotate demographic info </a:t>
            </a:r>
          </a:p>
          <a:p>
            <a:pPr algn="l" marL="715582" indent="-357791" lvl="1">
              <a:lnSpc>
                <a:spcPts val="4640"/>
              </a:lnSpc>
              <a:spcBef>
                <a:spcPct val="0"/>
              </a:spcBef>
              <a:buFont typeface="Arial"/>
              <a:buChar char="•"/>
            </a:pPr>
            <a:r>
              <a:rPr lang="en-US" sz="3314" strike="noStrike" u="none">
                <a:solidFill>
                  <a:srgbClr val="FFFFFF"/>
                </a:solidFill>
                <a:latin typeface="Open Sans"/>
                <a:ea typeface="Open Sans"/>
                <a:cs typeface="Open Sans"/>
                <a:sym typeface="Open Sans"/>
              </a:rPr>
              <a:t>A success message indicates the data is ready for the next processing step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grpSp>
        <p:nvGrpSpPr>
          <p:cNvPr name="Group 2" id="2"/>
          <p:cNvGrpSpPr/>
          <p:nvPr/>
        </p:nvGrpSpPr>
        <p:grpSpPr>
          <a:xfrm rot="0">
            <a:off x="1028700" y="1852859"/>
            <a:ext cx="6926085" cy="6906710"/>
            <a:chOff x="0" y="0"/>
            <a:chExt cx="1605499" cy="1601008"/>
          </a:xfrm>
        </p:grpSpPr>
        <p:sp>
          <p:nvSpPr>
            <p:cNvPr name="Freeform 3" id="3"/>
            <p:cNvSpPr/>
            <p:nvPr/>
          </p:nvSpPr>
          <p:spPr>
            <a:xfrm flipH="false" flipV="false" rot="0">
              <a:off x="0" y="0"/>
              <a:ext cx="1605499" cy="1601008"/>
            </a:xfrm>
            <a:custGeom>
              <a:avLst/>
              <a:gdLst/>
              <a:ahLst/>
              <a:cxnLst/>
              <a:rect r="r" b="b" t="t" l="l"/>
              <a:pathLst>
                <a:path h="1601008" w="1605499">
                  <a:moveTo>
                    <a:pt x="0" y="0"/>
                  </a:moveTo>
                  <a:lnTo>
                    <a:pt x="1605499" y="0"/>
                  </a:lnTo>
                  <a:lnTo>
                    <a:pt x="1605499" y="1601008"/>
                  </a:lnTo>
                  <a:lnTo>
                    <a:pt x="0" y="1601008"/>
                  </a:lnTo>
                  <a:close/>
                </a:path>
              </a:pathLst>
            </a:custGeom>
            <a:blipFill>
              <a:blip r:embed="rId2"/>
              <a:stretch>
                <a:fillRect l="-1042" t="0" r="-1042" b="0"/>
              </a:stretch>
            </a:blipFill>
          </p:spPr>
        </p:sp>
      </p:grpSp>
      <p:sp>
        <p:nvSpPr>
          <p:cNvPr name="Freeform 4" id="4"/>
          <p:cNvSpPr/>
          <p:nvPr/>
        </p:nvSpPr>
        <p:spPr>
          <a:xfrm flipH="false" flipV="true" rot="5400000">
            <a:off x="1270823" y="881788"/>
            <a:ext cx="2023562" cy="3222316"/>
          </a:xfrm>
          <a:custGeom>
            <a:avLst/>
            <a:gdLst/>
            <a:ahLst/>
            <a:cxnLst/>
            <a:rect r="r" b="b" t="t" l="l"/>
            <a:pathLst>
              <a:path h="3222316" w="2023562">
                <a:moveTo>
                  <a:pt x="0" y="3222316"/>
                </a:moveTo>
                <a:lnTo>
                  <a:pt x="2023562" y="3222316"/>
                </a:lnTo>
                <a:lnTo>
                  <a:pt x="2023562" y="0"/>
                </a:lnTo>
                <a:lnTo>
                  <a:pt x="0" y="0"/>
                </a:lnTo>
                <a:lnTo>
                  <a:pt x="0" y="322231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395160" y="195510"/>
            <a:ext cx="16005396" cy="1113703"/>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User</a:t>
            </a:r>
            <a:r>
              <a:rPr lang="en-US" b="true" sz="6500">
                <a:solidFill>
                  <a:srgbClr val="FFFFFF"/>
                </a:solidFill>
                <a:latin typeface="TT Supermolot Neue Bold"/>
                <a:ea typeface="TT Supermolot Neue Bold"/>
                <a:cs typeface="TT Supermolot Neue Bold"/>
                <a:sym typeface="TT Supermolot Neue Bold"/>
              </a:rPr>
              <a:t> Interface- Triplet Network</a:t>
            </a:r>
          </a:p>
        </p:txBody>
      </p:sp>
      <p:sp>
        <p:nvSpPr>
          <p:cNvPr name="TextBox 6" id="6"/>
          <p:cNvSpPr txBox="true"/>
          <p:nvPr/>
        </p:nvSpPr>
        <p:spPr>
          <a:xfrm rot="0">
            <a:off x="8891114" y="2904107"/>
            <a:ext cx="7437039" cy="3522796"/>
          </a:xfrm>
          <a:prstGeom prst="rect">
            <a:avLst/>
          </a:prstGeom>
        </p:spPr>
        <p:txBody>
          <a:bodyPr anchor="t" rtlCol="false" tIns="0" lIns="0" bIns="0" rIns="0">
            <a:spAutoFit/>
          </a:bodyPr>
          <a:lstStyle/>
          <a:p>
            <a:pPr algn="l" marL="718911" indent="-359455" lvl="1">
              <a:lnSpc>
                <a:spcPts val="4661"/>
              </a:lnSpc>
              <a:spcBef>
                <a:spcPct val="0"/>
              </a:spcBef>
              <a:buFont typeface="Arial"/>
              <a:buChar char="•"/>
            </a:pPr>
            <a:r>
              <a:rPr lang="en-US" sz="3329">
                <a:solidFill>
                  <a:srgbClr val="FFFFFF"/>
                </a:solidFill>
                <a:latin typeface="Open Sans"/>
                <a:ea typeface="Open Sans"/>
                <a:cs typeface="Open Sans"/>
                <a:sym typeface="Open Sans"/>
              </a:rPr>
              <a:t>V</a:t>
            </a:r>
            <a:r>
              <a:rPr lang="en-US" sz="3329" strike="noStrike" u="none">
                <a:solidFill>
                  <a:srgbClr val="FFFFFF"/>
                </a:solidFill>
                <a:latin typeface="Open Sans"/>
                <a:ea typeface="Open Sans"/>
                <a:cs typeface="Open Sans"/>
                <a:sym typeface="Open Sans"/>
              </a:rPr>
              <a:t>isualize triplet similarity as a graph: Nodes = triplets, Edges = similarity relationships</a:t>
            </a:r>
          </a:p>
          <a:p>
            <a:pPr algn="l" marL="718911" indent="-359455" lvl="1">
              <a:lnSpc>
                <a:spcPts val="4661"/>
              </a:lnSpc>
              <a:spcBef>
                <a:spcPct val="0"/>
              </a:spcBef>
              <a:buFont typeface="Arial"/>
              <a:buChar char="•"/>
            </a:pPr>
            <a:r>
              <a:rPr lang="en-US" sz="3329" strike="noStrike" u="none">
                <a:solidFill>
                  <a:srgbClr val="FFFFFF"/>
                </a:solidFill>
                <a:latin typeface="Open Sans"/>
                <a:ea typeface="Open Sans"/>
                <a:cs typeface="Open Sans"/>
                <a:sym typeface="Open Sans"/>
              </a:rPr>
              <a:t>Metrics: cluster count, dispersion</a:t>
            </a:r>
          </a:p>
          <a:p>
            <a:pPr algn="l" marL="718911" indent="-359455" lvl="1">
              <a:lnSpc>
                <a:spcPts val="4661"/>
              </a:lnSpc>
              <a:spcBef>
                <a:spcPct val="0"/>
              </a:spcBef>
              <a:buFont typeface="Arial"/>
              <a:buChar char="•"/>
            </a:pPr>
            <a:r>
              <a:rPr lang="en-US" sz="3329" strike="noStrike" u="none">
                <a:solidFill>
                  <a:srgbClr val="FFFFFF"/>
                </a:solidFill>
                <a:latin typeface="Open Sans"/>
                <a:ea typeface="Open Sans"/>
                <a:cs typeface="Open Sans"/>
                <a:sym typeface="Open Sans"/>
              </a:rPr>
              <a:t>T</a:t>
            </a:r>
            <a:r>
              <a:rPr lang="en-US" sz="3329" strike="noStrike" u="none">
                <a:solidFill>
                  <a:srgbClr val="FFFFFF"/>
                </a:solidFill>
                <a:latin typeface="Open Sans"/>
                <a:ea typeface="Open Sans"/>
                <a:cs typeface="Open Sans"/>
                <a:sym typeface="Open Sans"/>
              </a:rPr>
              <a:t>oggle between amino acid and nucleotide views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grpSp>
        <p:nvGrpSpPr>
          <p:cNvPr name="Group 2" id="2"/>
          <p:cNvGrpSpPr/>
          <p:nvPr/>
        </p:nvGrpSpPr>
        <p:grpSpPr>
          <a:xfrm rot="0">
            <a:off x="9755112" y="1716201"/>
            <a:ext cx="8115300" cy="8092599"/>
            <a:chOff x="0" y="0"/>
            <a:chExt cx="1605499" cy="1601008"/>
          </a:xfrm>
        </p:grpSpPr>
        <p:sp>
          <p:nvSpPr>
            <p:cNvPr name="Freeform 3" id="3"/>
            <p:cNvSpPr/>
            <p:nvPr/>
          </p:nvSpPr>
          <p:spPr>
            <a:xfrm flipH="false" flipV="false" rot="0">
              <a:off x="0" y="0"/>
              <a:ext cx="1605499" cy="1601008"/>
            </a:xfrm>
            <a:custGeom>
              <a:avLst/>
              <a:gdLst/>
              <a:ahLst/>
              <a:cxnLst/>
              <a:rect r="r" b="b" t="t" l="l"/>
              <a:pathLst>
                <a:path h="1601008" w="1605499">
                  <a:moveTo>
                    <a:pt x="0" y="0"/>
                  </a:moveTo>
                  <a:lnTo>
                    <a:pt x="1605499" y="0"/>
                  </a:lnTo>
                  <a:lnTo>
                    <a:pt x="1605499" y="1601008"/>
                  </a:lnTo>
                  <a:lnTo>
                    <a:pt x="0" y="1601008"/>
                  </a:lnTo>
                  <a:close/>
                </a:path>
              </a:pathLst>
            </a:custGeom>
            <a:blipFill>
              <a:blip r:embed="rId2"/>
              <a:stretch>
                <a:fillRect l="-73" t="0" r="-73" b="0"/>
              </a:stretch>
            </a:blipFill>
          </p:spPr>
        </p:sp>
      </p:grpSp>
      <p:sp>
        <p:nvSpPr>
          <p:cNvPr name="Freeform 4" id="4"/>
          <p:cNvSpPr/>
          <p:nvPr/>
        </p:nvSpPr>
        <p:spPr>
          <a:xfrm flipH="false" flipV="true" rot="5400000">
            <a:off x="9997235" y="843508"/>
            <a:ext cx="2023562" cy="3222316"/>
          </a:xfrm>
          <a:custGeom>
            <a:avLst/>
            <a:gdLst/>
            <a:ahLst/>
            <a:cxnLst/>
            <a:rect r="r" b="b" t="t" l="l"/>
            <a:pathLst>
              <a:path h="3222316" w="2023562">
                <a:moveTo>
                  <a:pt x="0" y="3222316"/>
                </a:moveTo>
                <a:lnTo>
                  <a:pt x="2023562" y="3222316"/>
                </a:lnTo>
                <a:lnTo>
                  <a:pt x="2023562" y="0"/>
                </a:lnTo>
                <a:lnTo>
                  <a:pt x="0" y="0"/>
                </a:lnTo>
                <a:lnTo>
                  <a:pt x="0" y="3222316"/>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311304" y="118701"/>
            <a:ext cx="14976696" cy="1113703"/>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User</a:t>
            </a:r>
            <a:r>
              <a:rPr lang="en-US" b="true" sz="6500">
                <a:solidFill>
                  <a:srgbClr val="FFFFFF"/>
                </a:solidFill>
                <a:latin typeface="TT Supermolot Neue Bold"/>
                <a:ea typeface="TT Supermolot Neue Bold"/>
                <a:cs typeface="TT Supermolot Neue Bold"/>
                <a:sym typeface="TT Supermolot Neue Bold"/>
              </a:rPr>
              <a:t> Interface- Profile Comparison</a:t>
            </a:r>
          </a:p>
        </p:txBody>
      </p:sp>
      <p:sp>
        <p:nvSpPr>
          <p:cNvPr name="TextBox 6" id="6"/>
          <p:cNvSpPr txBox="true"/>
          <p:nvPr/>
        </p:nvSpPr>
        <p:spPr>
          <a:xfrm rot="0">
            <a:off x="509682" y="2397516"/>
            <a:ext cx="7311480" cy="4950165"/>
          </a:xfrm>
          <a:prstGeom prst="rect">
            <a:avLst/>
          </a:prstGeom>
        </p:spPr>
        <p:txBody>
          <a:bodyPr anchor="t" rtlCol="false" tIns="0" lIns="0" bIns="0" rIns="0">
            <a:spAutoFit/>
          </a:bodyPr>
          <a:lstStyle/>
          <a:p>
            <a:pPr algn="l" marL="671801" indent="-335900" lvl="1">
              <a:lnSpc>
                <a:spcPts val="4356"/>
              </a:lnSpc>
              <a:buFont typeface="Arial"/>
              <a:buChar char="•"/>
            </a:pPr>
            <a:r>
              <a:rPr lang="en-US" sz="3111">
                <a:solidFill>
                  <a:srgbClr val="FFFFFF"/>
                </a:solidFill>
                <a:latin typeface="Open Sans"/>
                <a:ea typeface="Open Sans"/>
                <a:cs typeface="Open Sans"/>
                <a:sym typeface="Open Sans"/>
              </a:rPr>
              <a:t>C</a:t>
            </a:r>
            <a:r>
              <a:rPr lang="en-US" sz="3111" strike="noStrike" u="none">
                <a:solidFill>
                  <a:srgbClr val="FFFFFF"/>
                </a:solidFill>
                <a:latin typeface="Open Sans"/>
                <a:ea typeface="Open Sans"/>
                <a:cs typeface="Open Sans"/>
                <a:sym typeface="Open Sans"/>
              </a:rPr>
              <a:t>ompare two antibody populations side by side</a:t>
            </a:r>
          </a:p>
          <a:p>
            <a:pPr algn="l" marL="671801" indent="-335900" lvl="1">
              <a:lnSpc>
                <a:spcPts val="4356"/>
              </a:lnSpc>
              <a:spcBef>
                <a:spcPct val="0"/>
              </a:spcBef>
              <a:buFont typeface="Arial"/>
              <a:buChar char="•"/>
            </a:pPr>
            <a:r>
              <a:rPr lang="en-US" sz="3111" strike="noStrike" u="none">
                <a:solidFill>
                  <a:srgbClr val="FFFFFF"/>
                </a:solidFill>
                <a:latin typeface="Open Sans"/>
                <a:ea typeface="Open Sans"/>
                <a:cs typeface="Open Sans"/>
                <a:sym typeface="Open Sans"/>
              </a:rPr>
              <a:t>Vi</a:t>
            </a:r>
            <a:r>
              <a:rPr lang="en-US" sz="3111" strike="noStrike" u="none">
                <a:solidFill>
                  <a:srgbClr val="FFFFFF"/>
                </a:solidFill>
                <a:latin typeface="Open Sans"/>
                <a:ea typeface="Open Sans"/>
                <a:cs typeface="Open Sans"/>
                <a:sym typeface="Open Sans"/>
              </a:rPr>
              <a:t>ew their triplet similarity networks and a calculated Distance Score</a:t>
            </a:r>
          </a:p>
          <a:p>
            <a:pPr algn="l" marL="671801" indent="-335900" lvl="1">
              <a:lnSpc>
                <a:spcPts val="4356"/>
              </a:lnSpc>
              <a:spcBef>
                <a:spcPct val="0"/>
              </a:spcBef>
              <a:buFont typeface="Arial"/>
              <a:buChar char="•"/>
            </a:pPr>
            <a:r>
              <a:rPr lang="en-US" sz="3111" strike="noStrike" u="none">
                <a:solidFill>
                  <a:srgbClr val="FFFFFF"/>
                </a:solidFill>
                <a:latin typeface="Open Sans"/>
                <a:ea typeface="Open Sans"/>
                <a:cs typeface="Open Sans"/>
                <a:sym typeface="Open Sans"/>
              </a:rPr>
              <a:t>Exp</a:t>
            </a:r>
            <a:r>
              <a:rPr lang="en-US" sz="3111" strike="noStrike" u="none">
                <a:solidFill>
                  <a:srgbClr val="FFFFFF"/>
                </a:solidFill>
                <a:latin typeface="Open Sans"/>
                <a:ea typeface="Open Sans"/>
                <a:cs typeface="Open Sans"/>
                <a:sym typeface="Open Sans"/>
              </a:rPr>
              <a:t>lore aligned sequences and see original codons for each amino acid</a:t>
            </a:r>
          </a:p>
          <a:p>
            <a:pPr algn="l" marL="671801" indent="-335900" lvl="1">
              <a:lnSpc>
                <a:spcPts val="4356"/>
              </a:lnSpc>
              <a:spcBef>
                <a:spcPct val="0"/>
              </a:spcBef>
              <a:buFont typeface="Arial"/>
              <a:buChar char="•"/>
            </a:pPr>
            <a:r>
              <a:rPr lang="en-US" sz="3111" strike="noStrike" u="none">
                <a:solidFill>
                  <a:srgbClr val="FFFFFF"/>
                </a:solidFill>
                <a:latin typeface="Open Sans"/>
                <a:ea typeface="Open Sans"/>
                <a:cs typeface="Open Sans"/>
                <a:sym typeface="Open Sans"/>
              </a:rPr>
              <a:t>E</a:t>
            </a:r>
            <a:r>
              <a:rPr lang="en-US" sz="3111" strike="noStrike" u="none">
                <a:solidFill>
                  <a:srgbClr val="FFFFFF"/>
                </a:solidFill>
                <a:latin typeface="Open Sans"/>
                <a:ea typeface="Open Sans"/>
                <a:cs typeface="Open Sans"/>
                <a:sym typeface="Open Sans"/>
              </a:rPr>
              <a:t>nables intuitive, detailed comparison between immune profiles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3048946" y="7158418"/>
            <a:ext cx="6097891" cy="6257165"/>
          </a:xfrm>
          <a:custGeom>
            <a:avLst/>
            <a:gdLst/>
            <a:ahLst/>
            <a:cxnLst/>
            <a:rect r="r" b="b" t="t" l="l"/>
            <a:pathLst>
              <a:path h="6257165" w="6097891">
                <a:moveTo>
                  <a:pt x="0" y="0"/>
                </a:moveTo>
                <a:lnTo>
                  <a:pt x="6097892" y="0"/>
                </a:lnTo>
                <a:lnTo>
                  <a:pt x="6097892" y="6257164"/>
                </a:lnTo>
                <a:lnTo>
                  <a:pt x="0" y="625716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32504" y="-3128582"/>
            <a:ext cx="6097891" cy="6257165"/>
          </a:xfrm>
          <a:custGeom>
            <a:avLst/>
            <a:gdLst/>
            <a:ahLst/>
            <a:cxnLst/>
            <a:rect r="r" b="b" t="t" l="l"/>
            <a:pathLst>
              <a:path h="6257165" w="6097891">
                <a:moveTo>
                  <a:pt x="0" y="0"/>
                </a:moveTo>
                <a:lnTo>
                  <a:pt x="6097892" y="0"/>
                </a:lnTo>
                <a:lnTo>
                  <a:pt x="6097892" y="6257164"/>
                </a:lnTo>
                <a:lnTo>
                  <a:pt x="0" y="625716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595729" y="5033055"/>
            <a:ext cx="6273550" cy="3598698"/>
          </a:xfrm>
          <a:custGeom>
            <a:avLst/>
            <a:gdLst/>
            <a:ahLst/>
            <a:cxnLst/>
            <a:rect r="r" b="b" t="t" l="l"/>
            <a:pathLst>
              <a:path h="3598698" w="6273550">
                <a:moveTo>
                  <a:pt x="0" y="0"/>
                </a:moveTo>
                <a:lnTo>
                  <a:pt x="6273551" y="0"/>
                </a:lnTo>
                <a:lnTo>
                  <a:pt x="6273551" y="3598698"/>
                </a:lnTo>
                <a:lnTo>
                  <a:pt x="0" y="3598698"/>
                </a:lnTo>
                <a:lnTo>
                  <a:pt x="0" y="0"/>
                </a:lnTo>
                <a:close/>
              </a:path>
            </a:pathLst>
          </a:custGeom>
          <a:blipFill>
            <a:blip r:embed="rId4"/>
            <a:stretch>
              <a:fillRect l="0" t="0" r="0" b="0"/>
            </a:stretch>
          </a:blipFill>
        </p:spPr>
      </p:sp>
      <p:sp>
        <p:nvSpPr>
          <p:cNvPr name="TextBox 5" id="5"/>
          <p:cNvSpPr txBox="true"/>
          <p:nvPr/>
        </p:nvSpPr>
        <p:spPr>
          <a:xfrm rot="0">
            <a:off x="740825" y="742572"/>
            <a:ext cx="13991679" cy="1112990"/>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V</a:t>
            </a:r>
            <a:r>
              <a:rPr lang="en-US" b="true" sz="6500" strike="noStrike" u="none">
                <a:solidFill>
                  <a:srgbClr val="FFFFFF"/>
                </a:solidFill>
                <a:latin typeface="TT Supermolot Neue Bold"/>
                <a:ea typeface="TT Supermolot Neue Bold"/>
                <a:cs typeface="TT Supermolot Neue Bold"/>
                <a:sym typeface="TT Supermolot Neue Bold"/>
              </a:rPr>
              <a:t>erific</a:t>
            </a:r>
            <a:r>
              <a:rPr lang="en-US" b="true" sz="6500" strike="noStrike" u="none">
                <a:solidFill>
                  <a:srgbClr val="FFFFFF"/>
                </a:solidFill>
                <a:latin typeface="TT Supermolot Neue Bold"/>
                <a:ea typeface="TT Supermolot Neue Bold"/>
                <a:cs typeface="TT Supermolot Neue Bold"/>
                <a:sym typeface="TT Supermolot Neue Bold"/>
              </a:rPr>
              <a:t>a</a:t>
            </a:r>
            <a:r>
              <a:rPr lang="en-US" b="true" sz="6500" strike="noStrike" u="none">
                <a:solidFill>
                  <a:srgbClr val="FFFFFF"/>
                </a:solidFill>
                <a:latin typeface="TT Supermolot Neue Bold"/>
                <a:ea typeface="TT Supermolot Neue Bold"/>
                <a:cs typeface="TT Supermolot Neue Bold"/>
                <a:sym typeface="TT Supermolot Neue Bold"/>
              </a:rPr>
              <a:t>tion Plan – Testing Highli</a:t>
            </a:r>
            <a:r>
              <a:rPr lang="en-US" b="true" sz="6500" strike="noStrike" u="none">
                <a:solidFill>
                  <a:srgbClr val="FFFFFF"/>
                </a:solidFill>
                <a:latin typeface="TT Supermolot Neue Bold"/>
                <a:ea typeface="TT Supermolot Neue Bold"/>
                <a:cs typeface="TT Supermolot Neue Bold"/>
                <a:sym typeface="TT Supermolot Neue Bold"/>
              </a:rPr>
              <a:t>gh</a:t>
            </a:r>
            <a:r>
              <a:rPr lang="en-US" b="true" sz="6500" strike="noStrike" u="none">
                <a:solidFill>
                  <a:srgbClr val="FFFFFF"/>
                </a:solidFill>
                <a:latin typeface="TT Supermolot Neue Bold"/>
                <a:ea typeface="TT Supermolot Neue Bold"/>
                <a:cs typeface="TT Supermolot Neue Bold"/>
                <a:sym typeface="TT Supermolot Neue Bold"/>
              </a:rPr>
              <a:t>ts</a:t>
            </a:r>
          </a:p>
        </p:txBody>
      </p:sp>
      <p:sp>
        <p:nvSpPr>
          <p:cNvPr name="TextBox 6" id="6"/>
          <p:cNvSpPr txBox="true"/>
          <p:nvPr/>
        </p:nvSpPr>
        <p:spPr>
          <a:xfrm rot="0">
            <a:off x="1028700" y="2114901"/>
            <a:ext cx="8939774" cy="4717503"/>
          </a:xfrm>
          <a:prstGeom prst="rect">
            <a:avLst/>
          </a:prstGeom>
        </p:spPr>
        <p:txBody>
          <a:bodyPr anchor="t" rtlCol="false" tIns="0" lIns="0" bIns="0" rIns="0">
            <a:spAutoFit/>
          </a:bodyPr>
          <a:lstStyle/>
          <a:p>
            <a:pPr algn="l" marL="724690" indent="-362345" lvl="1">
              <a:lnSpc>
                <a:spcPts val="4699"/>
              </a:lnSpc>
              <a:spcBef>
                <a:spcPct val="0"/>
              </a:spcBef>
              <a:buFont typeface="Arial"/>
              <a:buChar char="•"/>
            </a:pPr>
            <a:r>
              <a:rPr lang="en-US" sz="3356">
                <a:solidFill>
                  <a:srgbClr val="FFFFFF"/>
                </a:solidFill>
                <a:latin typeface="Open Sans"/>
                <a:ea typeface="Open Sans"/>
                <a:cs typeface="Open Sans"/>
                <a:sym typeface="Open Sans"/>
              </a:rPr>
              <a:t>V</a:t>
            </a:r>
            <a:r>
              <a:rPr lang="en-US" sz="3356" strike="noStrike" u="none">
                <a:solidFill>
                  <a:srgbClr val="FFFFFF"/>
                </a:solidFill>
                <a:latin typeface="Open Sans"/>
                <a:ea typeface="Open Sans"/>
                <a:cs typeface="Open Sans"/>
                <a:sym typeface="Open Sans"/>
              </a:rPr>
              <a:t>a</a:t>
            </a:r>
            <a:r>
              <a:rPr lang="en-US" sz="3356" strike="noStrike" u="none">
                <a:solidFill>
                  <a:srgbClr val="FFFFFF"/>
                </a:solidFill>
                <a:latin typeface="Open Sans"/>
                <a:ea typeface="Open Sans"/>
                <a:cs typeface="Open Sans"/>
                <a:sym typeface="Open Sans"/>
              </a:rPr>
              <a:t>l</a:t>
            </a:r>
            <a:r>
              <a:rPr lang="en-US" sz="3356" strike="noStrike" u="none">
                <a:solidFill>
                  <a:srgbClr val="FFFFFF"/>
                </a:solidFill>
                <a:latin typeface="Open Sans"/>
                <a:ea typeface="Open Sans"/>
                <a:cs typeface="Open Sans"/>
                <a:sym typeface="Open Sans"/>
              </a:rPr>
              <a:t>i</a:t>
            </a:r>
            <a:r>
              <a:rPr lang="en-US" sz="3356" strike="noStrike" u="none">
                <a:solidFill>
                  <a:srgbClr val="FFFFFF"/>
                </a:solidFill>
                <a:latin typeface="Open Sans"/>
                <a:ea typeface="Open Sans"/>
                <a:cs typeface="Open Sans"/>
                <a:sym typeface="Open Sans"/>
              </a:rPr>
              <a:t>d</a:t>
            </a:r>
            <a:r>
              <a:rPr lang="en-US" sz="3356" strike="noStrike" u="none">
                <a:solidFill>
                  <a:srgbClr val="FFFFFF"/>
                </a:solidFill>
                <a:latin typeface="Open Sans"/>
                <a:ea typeface="Open Sans"/>
                <a:cs typeface="Open Sans"/>
                <a:sym typeface="Open Sans"/>
              </a:rPr>
              <a:t>ate sequence file upload a</a:t>
            </a:r>
            <a:r>
              <a:rPr lang="en-US" sz="3356" strike="noStrike" u="none">
                <a:solidFill>
                  <a:srgbClr val="FFFFFF"/>
                </a:solidFill>
                <a:latin typeface="Open Sans"/>
                <a:ea typeface="Open Sans"/>
                <a:cs typeface="Open Sans"/>
                <a:sym typeface="Open Sans"/>
              </a:rPr>
              <a:t>nd</a:t>
            </a:r>
            <a:r>
              <a:rPr lang="en-US" sz="3356" strike="noStrike" u="none">
                <a:solidFill>
                  <a:srgbClr val="FFFFFF"/>
                </a:solidFill>
                <a:latin typeface="Open Sans"/>
                <a:ea typeface="Open Sans"/>
                <a:cs typeface="Open Sans"/>
                <a:sym typeface="Open Sans"/>
              </a:rPr>
              <a:t> metadata parsing</a:t>
            </a:r>
          </a:p>
          <a:p>
            <a:pPr algn="l" marL="724690" indent="-362345" lvl="1">
              <a:lnSpc>
                <a:spcPts val="4699"/>
              </a:lnSpc>
              <a:spcBef>
                <a:spcPct val="0"/>
              </a:spcBef>
              <a:buFont typeface="Arial"/>
              <a:buChar char="•"/>
            </a:pPr>
            <a:r>
              <a:rPr lang="en-US" sz="3356" strike="noStrike" u="none">
                <a:solidFill>
                  <a:srgbClr val="FFFFFF"/>
                </a:solidFill>
                <a:latin typeface="Open Sans"/>
                <a:ea typeface="Open Sans"/>
                <a:cs typeface="Open Sans"/>
                <a:sym typeface="Open Sans"/>
              </a:rPr>
              <a:t>Co</a:t>
            </a:r>
            <a:r>
              <a:rPr lang="en-US" sz="3356" strike="noStrike" u="none">
                <a:solidFill>
                  <a:srgbClr val="FFFFFF"/>
                </a:solidFill>
                <a:latin typeface="Open Sans"/>
                <a:ea typeface="Open Sans"/>
                <a:cs typeface="Open Sans"/>
                <a:sym typeface="Open Sans"/>
              </a:rPr>
              <a:t>n</a:t>
            </a:r>
            <a:r>
              <a:rPr lang="en-US" sz="3356" strike="noStrike" u="none">
                <a:solidFill>
                  <a:srgbClr val="FFFFFF"/>
                </a:solidFill>
                <a:latin typeface="Open Sans"/>
                <a:ea typeface="Open Sans"/>
                <a:cs typeface="Open Sans"/>
                <a:sym typeface="Open Sans"/>
              </a:rPr>
              <a:t>fi</a:t>
            </a:r>
            <a:r>
              <a:rPr lang="en-US" sz="3356" strike="noStrike" u="none">
                <a:solidFill>
                  <a:srgbClr val="FFFFFF"/>
                </a:solidFill>
                <a:latin typeface="Open Sans"/>
                <a:ea typeface="Open Sans"/>
                <a:cs typeface="Open Sans"/>
                <a:sym typeface="Open Sans"/>
              </a:rPr>
              <a:t>rm</a:t>
            </a:r>
            <a:r>
              <a:rPr lang="en-US" sz="3356" strike="noStrike" u="none">
                <a:solidFill>
                  <a:srgbClr val="FFFFFF"/>
                </a:solidFill>
                <a:latin typeface="Open Sans"/>
                <a:ea typeface="Open Sans"/>
                <a:cs typeface="Open Sans"/>
                <a:sym typeface="Open Sans"/>
              </a:rPr>
              <a:t> corre</a:t>
            </a:r>
            <a:r>
              <a:rPr lang="en-US" sz="3356" strike="noStrike" u="none">
                <a:solidFill>
                  <a:srgbClr val="FFFFFF"/>
                </a:solidFill>
                <a:latin typeface="Open Sans"/>
                <a:ea typeface="Open Sans"/>
                <a:cs typeface="Open Sans"/>
                <a:sym typeface="Open Sans"/>
              </a:rPr>
              <a:t>ct</a:t>
            </a:r>
            <a:r>
              <a:rPr lang="en-US" sz="3356" strike="noStrike" u="none">
                <a:solidFill>
                  <a:srgbClr val="FFFFFF"/>
                </a:solidFill>
                <a:latin typeface="Open Sans"/>
                <a:ea typeface="Open Sans"/>
                <a:cs typeface="Open Sans"/>
                <a:sym typeface="Open Sans"/>
              </a:rPr>
              <a:t> triplet e</a:t>
            </a:r>
            <a:r>
              <a:rPr lang="en-US" sz="3356" strike="noStrike" u="none">
                <a:solidFill>
                  <a:srgbClr val="FFFFFF"/>
                </a:solidFill>
                <a:latin typeface="Open Sans"/>
                <a:ea typeface="Open Sans"/>
                <a:cs typeface="Open Sans"/>
                <a:sym typeface="Open Sans"/>
              </a:rPr>
              <a:t>x</a:t>
            </a:r>
            <a:r>
              <a:rPr lang="en-US" sz="3356" strike="noStrike" u="none">
                <a:solidFill>
                  <a:srgbClr val="FFFFFF"/>
                </a:solidFill>
                <a:latin typeface="Open Sans"/>
                <a:ea typeface="Open Sans"/>
                <a:cs typeface="Open Sans"/>
                <a:sym typeface="Open Sans"/>
              </a:rPr>
              <a:t>traction from sequences</a:t>
            </a:r>
          </a:p>
          <a:p>
            <a:pPr algn="l" marL="724690" indent="-362345" lvl="1">
              <a:lnSpc>
                <a:spcPts val="4699"/>
              </a:lnSpc>
              <a:spcBef>
                <a:spcPct val="0"/>
              </a:spcBef>
              <a:buFont typeface="Arial"/>
              <a:buChar char="•"/>
            </a:pPr>
            <a:r>
              <a:rPr lang="en-US" sz="3356" strike="noStrike" u="none">
                <a:solidFill>
                  <a:srgbClr val="FFFFFF"/>
                </a:solidFill>
                <a:latin typeface="Open Sans"/>
                <a:ea typeface="Open Sans"/>
                <a:cs typeface="Open Sans"/>
                <a:sym typeface="Open Sans"/>
              </a:rPr>
              <a:t>T</a:t>
            </a:r>
            <a:r>
              <a:rPr lang="en-US" sz="3356" strike="noStrike" u="none">
                <a:solidFill>
                  <a:srgbClr val="FFFFFF"/>
                </a:solidFill>
                <a:latin typeface="Open Sans"/>
                <a:ea typeface="Open Sans"/>
                <a:cs typeface="Open Sans"/>
                <a:sym typeface="Open Sans"/>
              </a:rPr>
              <a:t>est visualization </a:t>
            </a:r>
            <a:r>
              <a:rPr lang="en-US" sz="3356" strike="noStrike" u="none">
                <a:solidFill>
                  <a:srgbClr val="FFFFFF"/>
                </a:solidFill>
                <a:latin typeface="Open Sans"/>
                <a:ea typeface="Open Sans"/>
                <a:cs typeface="Open Sans"/>
                <a:sym typeface="Open Sans"/>
              </a:rPr>
              <a:t>l</a:t>
            </a:r>
            <a:r>
              <a:rPr lang="en-US" sz="3356" strike="noStrike" u="none">
                <a:solidFill>
                  <a:srgbClr val="FFFFFF"/>
                </a:solidFill>
                <a:latin typeface="Open Sans"/>
                <a:ea typeface="Open Sans"/>
                <a:cs typeface="Open Sans"/>
                <a:sym typeface="Open Sans"/>
              </a:rPr>
              <a:t>oading under large data input</a:t>
            </a:r>
          </a:p>
          <a:p>
            <a:pPr algn="l" marL="724690" indent="-362345" lvl="1">
              <a:lnSpc>
                <a:spcPts val="4699"/>
              </a:lnSpc>
              <a:spcBef>
                <a:spcPct val="0"/>
              </a:spcBef>
              <a:buFont typeface="Arial"/>
              <a:buChar char="•"/>
            </a:pPr>
            <a:r>
              <a:rPr lang="en-US" sz="3356" strike="noStrike" u="none">
                <a:solidFill>
                  <a:srgbClr val="FFFFFF"/>
                </a:solidFill>
                <a:latin typeface="Open Sans"/>
                <a:ea typeface="Open Sans"/>
                <a:cs typeface="Open Sans"/>
                <a:sym typeface="Open Sans"/>
              </a:rPr>
              <a:t>Check Distan</a:t>
            </a:r>
            <a:r>
              <a:rPr lang="en-US" sz="3356" strike="noStrike" u="none">
                <a:solidFill>
                  <a:srgbClr val="FFFFFF"/>
                </a:solidFill>
                <a:latin typeface="Open Sans"/>
                <a:ea typeface="Open Sans"/>
                <a:cs typeface="Open Sans"/>
                <a:sym typeface="Open Sans"/>
              </a:rPr>
              <a:t>c</a:t>
            </a:r>
            <a:r>
              <a:rPr lang="en-US" sz="3356" strike="noStrike" u="none">
                <a:solidFill>
                  <a:srgbClr val="FFFFFF"/>
                </a:solidFill>
                <a:latin typeface="Open Sans"/>
                <a:ea typeface="Open Sans"/>
                <a:cs typeface="Open Sans"/>
                <a:sym typeface="Open Sans"/>
              </a:rPr>
              <a:t>e</a:t>
            </a:r>
            <a:r>
              <a:rPr lang="en-US" sz="3356" strike="noStrike" u="none">
                <a:solidFill>
                  <a:srgbClr val="FFFFFF"/>
                </a:solidFill>
                <a:latin typeface="Open Sans"/>
                <a:ea typeface="Open Sans"/>
                <a:cs typeface="Open Sans"/>
                <a:sym typeface="Open Sans"/>
              </a:rPr>
              <a:t> Sc</a:t>
            </a:r>
            <a:r>
              <a:rPr lang="en-US" sz="3356" strike="noStrike" u="none">
                <a:solidFill>
                  <a:srgbClr val="FFFFFF"/>
                </a:solidFill>
                <a:latin typeface="Open Sans"/>
                <a:ea typeface="Open Sans"/>
                <a:cs typeface="Open Sans"/>
                <a:sym typeface="Open Sans"/>
              </a:rPr>
              <a:t>ore </a:t>
            </a:r>
            <a:r>
              <a:rPr lang="en-US" sz="3356" strike="noStrike" u="none">
                <a:solidFill>
                  <a:srgbClr val="FFFFFF"/>
                </a:solidFill>
                <a:latin typeface="Open Sans"/>
                <a:ea typeface="Open Sans"/>
                <a:cs typeface="Open Sans"/>
                <a:sym typeface="Open Sans"/>
              </a:rPr>
              <a:t>calcul</a:t>
            </a:r>
            <a:r>
              <a:rPr lang="en-US" sz="3356" strike="noStrike" u="none">
                <a:solidFill>
                  <a:srgbClr val="FFFFFF"/>
                </a:solidFill>
                <a:latin typeface="Open Sans"/>
                <a:ea typeface="Open Sans"/>
                <a:cs typeface="Open Sans"/>
                <a:sym typeface="Open Sans"/>
              </a:rPr>
              <a:t>at</a:t>
            </a:r>
            <a:r>
              <a:rPr lang="en-US" sz="3356" strike="noStrike" u="none">
                <a:solidFill>
                  <a:srgbClr val="FFFFFF"/>
                </a:solidFill>
                <a:latin typeface="Open Sans"/>
                <a:ea typeface="Open Sans"/>
                <a:cs typeface="Open Sans"/>
                <a:sym typeface="Open Sans"/>
              </a:rPr>
              <a:t>ion</a:t>
            </a:r>
            <a:r>
              <a:rPr lang="en-US" sz="3356" strike="noStrike" u="none">
                <a:solidFill>
                  <a:srgbClr val="FFFFFF"/>
                </a:solidFill>
                <a:latin typeface="Open Sans"/>
                <a:ea typeface="Open Sans"/>
                <a:cs typeface="Open Sans"/>
                <a:sym typeface="Open Sans"/>
              </a:rPr>
              <a:t> </a:t>
            </a:r>
            <a:r>
              <a:rPr lang="en-US" sz="3356" strike="noStrike" u="none">
                <a:solidFill>
                  <a:srgbClr val="FFFFFF"/>
                </a:solidFill>
                <a:latin typeface="Open Sans"/>
                <a:ea typeface="Open Sans"/>
                <a:cs typeface="Open Sans"/>
                <a:sym typeface="Open Sans"/>
              </a:rPr>
              <a:t>w</a:t>
            </a:r>
            <a:r>
              <a:rPr lang="en-US" sz="3356" strike="noStrike" u="none">
                <a:solidFill>
                  <a:srgbClr val="FFFFFF"/>
                </a:solidFill>
                <a:latin typeface="Open Sans"/>
                <a:ea typeface="Open Sans"/>
                <a:cs typeface="Open Sans"/>
                <a:sym typeface="Open Sans"/>
              </a:rPr>
              <a:t>i</a:t>
            </a:r>
            <a:r>
              <a:rPr lang="en-US" sz="3356" strike="noStrike" u="none">
                <a:solidFill>
                  <a:srgbClr val="FFFFFF"/>
                </a:solidFill>
                <a:latin typeface="Open Sans"/>
                <a:ea typeface="Open Sans"/>
                <a:cs typeface="Open Sans"/>
                <a:sym typeface="Open Sans"/>
              </a:rPr>
              <a:t>th</a:t>
            </a:r>
            <a:r>
              <a:rPr lang="en-US" sz="3356" strike="noStrike" u="none">
                <a:solidFill>
                  <a:srgbClr val="FFFFFF"/>
                </a:solidFill>
                <a:latin typeface="Open Sans"/>
                <a:ea typeface="Open Sans"/>
                <a:cs typeface="Open Sans"/>
                <a:sym typeface="Open Sans"/>
              </a:rPr>
              <a:t> both </a:t>
            </a:r>
            <a:r>
              <a:rPr lang="en-US" sz="3356" strike="noStrike" u="none">
                <a:solidFill>
                  <a:srgbClr val="FFFFFF"/>
                </a:solidFill>
                <a:latin typeface="Open Sans"/>
                <a:ea typeface="Open Sans"/>
                <a:cs typeface="Open Sans"/>
                <a:sym typeface="Open Sans"/>
              </a:rPr>
              <a:t>full a</a:t>
            </a:r>
            <a:r>
              <a:rPr lang="en-US" sz="3356" strike="noStrike" u="none">
                <a:solidFill>
                  <a:srgbClr val="FFFFFF"/>
                </a:solidFill>
                <a:latin typeface="Open Sans"/>
                <a:ea typeface="Open Sans"/>
                <a:cs typeface="Open Sans"/>
                <a:sym typeface="Open Sans"/>
              </a:rPr>
              <a:t>nd empty graphs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sp>
        <p:nvSpPr>
          <p:cNvPr name="Freeform 2" id="2"/>
          <p:cNvSpPr/>
          <p:nvPr/>
        </p:nvSpPr>
        <p:spPr>
          <a:xfrm flipH="false" flipV="false" rot="0">
            <a:off x="-3048946" y="7158418"/>
            <a:ext cx="6097891" cy="6257165"/>
          </a:xfrm>
          <a:custGeom>
            <a:avLst/>
            <a:gdLst/>
            <a:ahLst/>
            <a:cxnLst/>
            <a:rect r="r" b="b" t="t" l="l"/>
            <a:pathLst>
              <a:path h="6257165" w="6097891">
                <a:moveTo>
                  <a:pt x="0" y="0"/>
                </a:moveTo>
                <a:lnTo>
                  <a:pt x="6097892" y="0"/>
                </a:lnTo>
                <a:lnTo>
                  <a:pt x="6097892" y="6257164"/>
                </a:lnTo>
                <a:lnTo>
                  <a:pt x="0" y="625716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32504" y="-3128582"/>
            <a:ext cx="6097891" cy="6257165"/>
          </a:xfrm>
          <a:custGeom>
            <a:avLst/>
            <a:gdLst/>
            <a:ahLst/>
            <a:cxnLst/>
            <a:rect r="r" b="b" t="t" l="l"/>
            <a:pathLst>
              <a:path h="6257165" w="6097891">
                <a:moveTo>
                  <a:pt x="0" y="0"/>
                </a:moveTo>
                <a:lnTo>
                  <a:pt x="6097892" y="0"/>
                </a:lnTo>
                <a:lnTo>
                  <a:pt x="6097892" y="6257164"/>
                </a:lnTo>
                <a:lnTo>
                  <a:pt x="0" y="625716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338346" y="2078452"/>
            <a:ext cx="10923048" cy="5768002"/>
          </a:xfrm>
          <a:prstGeom prst="rect">
            <a:avLst/>
          </a:prstGeom>
        </p:spPr>
        <p:txBody>
          <a:bodyPr anchor="t" rtlCol="false" tIns="0" lIns="0" bIns="0" rIns="0">
            <a:spAutoFit/>
          </a:bodyPr>
          <a:lstStyle/>
          <a:p>
            <a:pPr algn="l" marL="709289" indent="-354644" lvl="1">
              <a:lnSpc>
                <a:spcPts val="4599"/>
              </a:lnSpc>
              <a:spcBef>
                <a:spcPct val="0"/>
              </a:spcBef>
              <a:buFont typeface="Arial"/>
              <a:buChar char="•"/>
            </a:pPr>
            <a:r>
              <a:rPr lang="en-US" sz="3285">
                <a:solidFill>
                  <a:srgbClr val="FFFFFF"/>
                </a:solidFill>
                <a:latin typeface="Open Sans"/>
                <a:ea typeface="Open Sans"/>
                <a:cs typeface="Open Sans"/>
                <a:sym typeface="Open Sans"/>
              </a:rPr>
              <a:t>P</a:t>
            </a:r>
            <a:r>
              <a:rPr lang="en-US" sz="3285" strike="noStrike" u="none">
                <a:solidFill>
                  <a:srgbClr val="FFFFFF"/>
                </a:solidFill>
                <a:latin typeface="Open Sans"/>
                <a:ea typeface="Open Sans"/>
                <a:cs typeface="Open Sans"/>
                <a:sym typeface="Open Sans"/>
              </a:rPr>
              <a:t>rovide researchers with a </a:t>
            </a:r>
            <a:r>
              <a:rPr lang="en-US" sz="3285" strike="noStrike" u="none">
                <a:solidFill>
                  <a:srgbClr val="FFFFFF"/>
                </a:solidFill>
                <a:latin typeface="Open Sans"/>
                <a:ea typeface="Open Sans"/>
                <a:cs typeface="Open Sans"/>
                <a:sym typeface="Open Sans"/>
              </a:rPr>
              <a:t>sim</a:t>
            </a:r>
            <a:r>
              <a:rPr lang="en-US" sz="3285" strike="noStrike" u="none">
                <a:solidFill>
                  <a:srgbClr val="FFFFFF"/>
                </a:solidFill>
                <a:latin typeface="Open Sans"/>
                <a:ea typeface="Open Sans"/>
                <a:cs typeface="Open Sans"/>
                <a:sym typeface="Open Sans"/>
              </a:rPr>
              <a:t>p</a:t>
            </a:r>
            <a:r>
              <a:rPr lang="en-US" sz="3285" strike="noStrike" u="none">
                <a:solidFill>
                  <a:srgbClr val="FFFFFF"/>
                </a:solidFill>
                <a:latin typeface="Open Sans"/>
                <a:ea typeface="Open Sans"/>
                <a:cs typeface="Open Sans"/>
                <a:sym typeface="Open Sans"/>
              </a:rPr>
              <a:t>le, intui</a:t>
            </a:r>
            <a:r>
              <a:rPr lang="en-US" sz="3285" strike="noStrike" u="none">
                <a:solidFill>
                  <a:srgbClr val="FFFFFF"/>
                </a:solidFill>
                <a:latin typeface="Open Sans"/>
                <a:ea typeface="Open Sans"/>
                <a:cs typeface="Open Sans"/>
                <a:sym typeface="Open Sans"/>
              </a:rPr>
              <a:t>ti</a:t>
            </a:r>
            <a:r>
              <a:rPr lang="en-US" sz="3285" strike="noStrike" u="none">
                <a:solidFill>
                  <a:srgbClr val="FFFFFF"/>
                </a:solidFill>
                <a:latin typeface="Open Sans"/>
                <a:ea typeface="Open Sans"/>
                <a:cs typeface="Open Sans"/>
                <a:sym typeface="Open Sans"/>
              </a:rPr>
              <a:t>ve too</a:t>
            </a:r>
            <a:r>
              <a:rPr lang="en-US" sz="3285" strike="noStrike" u="none">
                <a:solidFill>
                  <a:srgbClr val="FFFFFF"/>
                </a:solidFill>
                <a:latin typeface="Open Sans"/>
                <a:ea typeface="Open Sans"/>
                <a:cs typeface="Open Sans"/>
                <a:sym typeface="Open Sans"/>
              </a:rPr>
              <a:t>l to e</a:t>
            </a:r>
            <a:r>
              <a:rPr lang="en-US" sz="3285" strike="noStrike" u="none">
                <a:solidFill>
                  <a:srgbClr val="FFFFFF"/>
                </a:solidFill>
                <a:latin typeface="Open Sans"/>
                <a:ea typeface="Open Sans"/>
                <a:cs typeface="Open Sans"/>
                <a:sym typeface="Open Sans"/>
              </a:rPr>
              <a:t>xplo</a:t>
            </a:r>
            <a:r>
              <a:rPr lang="en-US" sz="3285" strike="noStrike" u="none">
                <a:solidFill>
                  <a:srgbClr val="FFFFFF"/>
                </a:solidFill>
                <a:latin typeface="Open Sans"/>
                <a:ea typeface="Open Sans"/>
                <a:cs typeface="Open Sans"/>
                <a:sym typeface="Open Sans"/>
              </a:rPr>
              <a:t>re immune diversity</a:t>
            </a:r>
          </a:p>
          <a:p>
            <a:pPr algn="l" marL="709289" indent="-354644" lvl="1">
              <a:lnSpc>
                <a:spcPts val="4599"/>
              </a:lnSpc>
              <a:spcBef>
                <a:spcPct val="0"/>
              </a:spcBef>
              <a:buFont typeface="Arial"/>
              <a:buChar char="•"/>
            </a:pPr>
            <a:r>
              <a:rPr lang="en-US" sz="3285" strike="noStrike" u="none">
                <a:solidFill>
                  <a:srgbClr val="FFFFFF"/>
                </a:solidFill>
                <a:latin typeface="Open Sans"/>
                <a:ea typeface="Open Sans"/>
                <a:cs typeface="Open Sans"/>
                <a:sym typeface="Open Sans"/>
              </a:rPr>
              <a:t>Rep</a:t>
            </a:r>
            <a:r>
              <a:rPr lang="en-US" sz="3285" strike="noStrike" u="none">
                <a:solidFill>
                  <a:srgbClr val="FFFFFF"/>
                </a:solidFill>
                <a:latin typeface="Open Sans"/>
                <a:ea typeface="Open Sans"/>
                <a:cs typeface="Open Sans"/>
                <a:sym typeface="Open Sans"/>
              </a:rPr>
              <a:t>r</a:t>
            </a:r>
            <a:r>
              <a:rPr lang="en-US" sz="3285" strike="noStrike" u="none">
                <a:solidFill>
                  <a:srgbClr val="FFFFFF"/>
                </a:solidFill>
                <a:latin typeface="Open Sans"/>
                <a:ea typeface="Open Sans"/>
                <a:cs typeface="Open Sans"/>
                <a:sym typeface="Open Sans"/>
              </a:rPr>
              <a:t>esent antibody groups as triplet-based net</a:t>
            </a:r>
            <a:r>
              <a:rPr lang="en-US" sz="3285" strike="noStrike" u="none">
                <a:solidFill>
                  <a:srgbClr val="FFFFFF"/>
                </a:solidFill>
                <a:latin typeface="Open Sans"/>
                <a:ea typeface="Open Sans"/>
                <a:cs typeface="Open Sans"/>
                <a:sym typeface="Open Sans"/>
              </a:rPr>
              <a:t>wo</a:t>
            </a:r>
            <a:r>
              <a:rPr lang="en-US" sz="3285" strike="noStrike" u="none">
                <a:solidFill>
                  <a:srgbClr val="FFFFFF"/>
                </a:solidFill>
                <a:latin typeface="Open Sans"/>
                <a:ea typeface="Open Sans"/>
                <a:cs typeface="Open Sans"/>
                <a:sym typeface="Open Sans"/>
              </a:rPr>
              <a:t>rks instead of raw sequences</a:t>
            </a:r>
          </a:p>
          <a:p>
            <a:pPr algn="l" marL="709289" indent="-354644" lvl="1">
              <a:lnSpc>
                <a:spcPts val="4599"/>
              </a:lnSpc>
              <a:spcBef>
                <a:spcPct val="0"/>
              </a:spcBef>
              <a:buFont typeface="Arial"/>
              <a:buChar char="•"/>
            </a:pPr>
            <a:r>
              <a:rPr lang="en-US" sz="3285" strike="noStrike" u="none">
                <a:solidFill>
                  <a:srgbClr val="FFFFFF"/>
                </a:solidFill>
                <a:latin typeface="Open Sans"/>
                <a:ea typeface="Open Sans"/>
                <a:cs typeface="Open Sans"/>
                <a:sym typeface="Open Sans"/>
              </a:rPr>
              <a:t>Enable</a:t>
            </a:r>
            <a:r>
              <a:rPr lang="en-US" sz="3285" strike="noStrike" u="none">
                <a:solidFill>
                  <a:srgbClr val="FFFFFF"/>
                </a:solidFill>
                <a:latin typeface="Open Sans"/>
                <a:ea typeface="Open Sans"/>
                <a:cs typeface="Open Sans"/>
                <a:sym typeface="Open Sans"/>
              </a:rPr>
              <a:t> easy comparison between different populations (vaccinated, age groups)</a:t>
            </a:r>
          </a:p>
          <a:p>
            <a:pPr algn="l" marL="709289" indent="-354644" lvl="1">
              <a:lnSpc>
                <a:spcPts val="4599"/>
              </a:lnSpc>
              <a:spcBef>
                <a:spcPct val="0"/>
              </a:spcBef>
              <a:buFont typeface="Arial"/>
              <a:buChar char="•"/>
            </a:pPr>
            <a:r>
              <a:rPr lang="en-US" sz="3285" strike="noStrike" u="none">
                <a:solidFill>
                  <a:srgbClr val="FFFFFF"/>
                </a:solidFill>
                <a:latin typeface="Open Sans"/>
                <a:ea typeface="Open Sans"/>
                <a:cs typeface="Open Sans"/>
                <a:sym typeface="Open Sans"/>
              </a:rPr>
              <a:t>Reveal </a:t>
            </a:r>
            <a:r>
              <a:rPr lang="en-US" sz="3285" strike="noStrike" u="none">
                <a:solidFill>
                  <a:srgbClr val="FFFFFF"/>
                </a:solidFill>
                <a:latin typeface="Open Sans"/>
                <a:ea typeface="Open Sans"/>
                <a:cs typeface="Open Sans"/>
                <a:sym typeface="Open Sans"/>
              </a:rPr>
              <a:t>l</a:t>
            </a:r>
            <a:r>
              <a:rPr lang="en-US" sz="3285" strike="noStrike" u="none">
                <a:solidFill>
                  <a:srgbClr val="FFFFFF"/>
                </a:solidFill>
                <a:latin typeface="Open Sans"/>
                <a:ea typeface="Open Sans"/>
                <a:cs typeface="Open Sans"/>
                <a:sym typeface="Open Sans"/>
              </a:rPr>
              <a:t>ocal differ</a:t>
            </a:r>
            <a:r>
              <a:rPr lang="en-US" sz="3285" strike="noStrike" u="none">
                <a:solidFill>
                  <a:srgbClr val="FFFFFF"/>
                </a:solidFill>
                <a:latin typeface="Open Sans"/>
                <a:ea typeface="Open Sans"/>
                <a:cs typeface="Open Sans"/>
                <a:sym typeface="Open Sans"/>
              </a:rPr>
              <a:t>ences</a:t>
            </a:r>
            <a:r>
              <a:rPr lang="en-US" sz="3285" strike="noStrike" u="none">
                <a:solidFill>
                  <a:srgbClr val="FFFFFF"/>
                </a:solidFill>
                <a:latin typeface="Open Sans"/>
                <a:ea typeface="Open Sans"/>
                <a:cs typeface="Open Sans"/>
                <a:sym typeface="Open Sans"/>
              </a:rPr>
              <a:t> </a:t>
            </a:r>
            <a:r>
              <a:rPr lang="en-US" sz="3285" strike="noStrike" u="none">
                <a:solidFill>
                  <a:srgbClr val="FFFFFF"/>
                </a:solidFill>
                <a:latin typeface="Open Sans"/>
                <a:ea typeface="Open Sans"/>
                <a:cs typeface="Open Sans"/>
                <a:sym typeface="Open Sans"/>
              </a:rPr>
              <a:t>that stan</a:t>
            </a:r>
            <a:r>
              <a:rPr lang="en-US" sz="3285" strike="noStrike" u="none">
                <a:solidFill>
                  <a:srgbClr val="FFFFFF"/>
                </a:solidFill>
                <a:latin typeface="Open Sans"/>
                <a:ea typeface="Open Sans"/>
                <a:cs typeface="Open Sans"/>
                <a:sym typeface="Open Sans"/>
              </a:rPr>
              <a:t>d</a:t>
            </a:r>
            <a:r>
              <a:rPr lang="en-US" sz="3285" strike="noStrike" u="none">
                <a:solidFill>
                  <a:srgbClr val="FFFFFF"/>
                </a:solidFill>
                <a:latin typeface="Open Sans"/>
                <a:ea typeface="Open Sans"/>
                <a:cs typeface="Open Sans"/>
                <a:sym typeface="Open Sans"/>
              </a:rPr>
              <a:t>ard tools may m</a:t>
            </a:r>
            <a:r>
              <a:rPr lang="en-US" sz="3285" strike="noStrike" u="none">
                <a:solidFill>
                  <a:srgbClr val="FFFFFF"/>
                </a:solidFill>
                <a:latin typeface="Open Sans"/>
                <a:ea typeface="Open Sans"/>
                <a:cs typeface="Open Sans"/>
                <a:sym typeface="Open Sans"/>
              </a:rPr>
              <a:t>iss</a:t>
            </a:r>
          </a:p>
          <a:p>
            <a:pPr algn="l" marL="709289" indent="-354644" lvl="1">
              <a:lnSpc>
                <a:spcPts val="4599"/>
              </a:lnSpc>
              <a:spcBef>
                <a:spcPct val="0"/>
              </a:spcBef>
              <a:buFont typeface="Arial"/>
              <a:buChar char="•"/>
            </a:pPr>
            <a:r>
              <a:rPr lang="en-US" sz="3285" strike="noStrike" u="none">
                <a:solidFill>
                  <a:srgbClr val="FFFFFF"/>
                </a:solidFill>
                <a:latin typeface="Open Sans"/>
                <a:ea typeface="Open Sans"/>
                <a:cs typeface="Open Sans"/>
                <a:sym typeface="Open Sans"/>
              </a:rPr>
              <a:t>Transform raw sequence data into clear</a:t>
            </a:r>
            <a:r>
              <a:rPr lang="en-US" sz="3285" strike="noStrike" u="none">
                <a:solidFill>
                  <a:srgbClr val="FFFFFF"/>
                </a:solidFill>
                <a:latin typeface="Open Sans"/>
                <a:ea typeface="Open Sans"/>
                <a:cs typeface="Open Sans"/>
                <a:sym typeface="Open Sans"/>
              </a:rPr>
              <a:t>,</a:t>
            </a:r>
            <a:r>
              <a:rPr lang="en-US" sz="3285" strike="noStrike" u="none">
                <a:solidFill>
                  <a:srgbClr val="FFFFFF"/>
                </a:solidFill>
                <a:latin typeface="Open Sans"/>
                <a:ea typeface="Open Sans"/>
                <a:cs typeface="Open Sans"/>
                <a:sym typeface="Open Sans"/>
              </a:rPr>
              <a:t> </a:t>
            </a:r>
            <a:r>
              <a:rPr lang="en-US" sz="3285" strike="noStrike" u="none">
                <a:solidFill>
                  <a:srgbClr val="FFFFFF"/>
                </a:solidFill>
                <a:latin typeface="Open Sans"/>
                <a:ea typeface="Open Sans"/>
                <a:cs typeface="Open Sans"/>
                <a:sym typeface="Open Sans"/>
              </a:rPr>
              <a:t>v</a:t>
            </a:r>
            <a:r>
              <a:rPr lang="en-US" sz="3285" strike="noStrike" u="none">
                <a:solidFill>
                  <a:srgbClr val="FFFFFF"/>
                </a:solidFill>
                <a:latin typeface="Open Sans"/>
                <a:ea typeface="Open Sans"/>
                <a:cs typeface="Open Sans"/>
                <a:sym typeface="Open Sans"/>
              </a:rPr>
              <a:t>is</a:t>
            </a:r>
            <a:r>
              <a:rPr lang="en-US" sz="3285" strike="noStrike" u="none">
                <a:solidFill>
                  <a:srgbClr val="FFFFFF"/>
                </a:solidFill>
                <a:latin typeface="Open Sans"/>
                <a:ea typeface="Open Sans"/>
                <a:cs typeface="Open Sans"/>
                <a:sym typeface="Open Sans"/>
              </a:rPr>
              <a:t>ual,</a:t>
            </a:r>
            <a:r>
              <a:rPr lang="en-US" sz="3285" strike="noStrike" u="none">
                <a:solidFill>
                  <a:srgbClr val="FFFFFF"/>
                </a:solidFill>
                <a:latin typeface="Open Sans"/>
                <a:ea typeface="Open Sans"/>
                <a:cs typeface="Open Sans"/>
                <a:sym typeface="Open Sans"/>
              </a:rPr>
              <a:t> </a:t>
            </a:r>
            <a:r>
              <a:rPr lang="en-US" sz="3285" strike="noStrike" u="none">
                <a:solidFill>
                  <a:srgbClr val="FFFFFF"/>
                </a:solidFill>
                <a:latin typeface="Open Sans"/>
                <a:ea typeface="Open Sans"/>
                <a:cs typeface="Open Sans"/>
                <a:sym typeface="Open Sans"/>
              </a:rPr>
              <a:t>and</a:t>
            </a:r>
            <a:r>
              <a:rPr lang="en-US" sz="3285" strike="noStrike" u="none">
                <a:solidFill>
                  <a:srgbClr val="FFFFFF"/>
                </a:solidFill>
                <a:latin typeface="Open Sans"/>
                <a:ea typeface="Open Sans"/>
                <a:cs typeface="Open Sans"/>
                <a:sym typeface="Open Sans"/>
              </a:rPr>
              <a:t> informative immun</a:t>
            </a:r>
            <a:r>
              <a:rPr lang="en-US" sz="3285" strike="noStrike" u="none">
                <a:solidFill>
                  <a:srgbClr val="FFFFFF"/>
                </a:solidFill>
                <a:latin typeface="Open Sans"/>
                <a:ea typeface="Open Sans"/>
                <a:cs typeface="Open Sans"/>
                <a:sym typeface="Open Sans"/>
              </a:rPr>
              <a:t>e</a:t>
            </a:r>
            <a:r>
              <a:rPr lang="en-US" sz="3285" strike="noStrike" u="none">
                <a:solidFill>
                  <a:srgbClr val="FFFFFF"/>
                </a:solidFill>
                <a:latin typeface="Open Sans"/>
                <a:ea typeface="Open Sans"/>
                <a:cs typeface="Open Sans"/>
                <a:sym typeface="Open Sans"/>
              </a:rPr>
              <a:t> </a:t>
            </a:r>
            <a:r>
              <a:rPr lang="en-US" sz="3285" strike="noStrike" u="none">
                <a:solidFill>
                  <a:srgbClr val="FFFFFF"/>
                </a:solidFill>
                <a:latin typeface="Open Sans"/>
                <a:ea typeface="Open Sans"/>
                <a:cs typeface="Open Sans"/>
                <a:sym typeface="Open Sans"/>
              </a:rPr>
              <a:t>pro</a:t>
            </a:r>
            <a:r>
              <a:rPr lang="en-US" sz="3285" strike="noStrike" u="none">
                <a:solidFill>
                  <a:srgbClr val="FFFFFF"/>
                </a:solidFill>
                <a:latin typeface="Open Sans"/>
                <a:ea typeface="Open Sans"/>
                <a:cs typeface="Open Sans"/>
                <a:sym typeface="Open Sans"/>
              </a:rPr>
              <a:t>f</a:t>
            </a:r>
            <a:r>
              <a:rPr lang="en-US" sz="3285" strike="noStrike" u="none">
                <a:solidFill>
                  <a:srgbClr val="FFFFFF"/>
                </a:solidFill>
                <a:latin typeface="Open Sans"/>
                <a:ea typeface="Open Sans"/>
                <a:cs typeface="Open Sans"/>
                <a:sym typeface="Open Sans"/>
              </a:rPr>
              <a:t>i</a:t>
            </a:r>
            <a:r>
              <a:rPr lang="en-US" sz="3285" strike="noStrike" u="none">
                <a:solidFill>
                  <a:srgbClr val="FFFFFF"/>
                </a:solidFill>
                <a:latin typeface="Open Sans"/>
                <a:ea typeface="Open Sans"/>
                <a:cs typeface="Open Sans"/>
                <a:sym typeface="Open Sans"/>
              </a:rPr>
              <a:t>l</a:t>
            </a:r>
            <a:r>
              <a:rPr lang="en-US" sz="3285" strike="noStrike" u="none">
                <a:solidFill>
                  <a:srgbClr val="FFFFFF"/>
                </a:solidFill>
                <a:latin typeface="Open Sans"/>
                <a:ea typeface="Open Sans"/>
                <a:cs typeface="Open Sans"/>
                <a:sym typeface="Open Sans"/>
              </a:rPr>
              <a:t>es</a:t>
            </a:r>
          </a:p>
        </p:txBody>
      </p:sp>
      <p:sp>
        <p:nvSpPr>
          <p:cNvPr name="Freeform 5" id="5"/>
          <p:cNvSpPr/>
          <p:nvPr/>
        </p:nvSpPr>
        <p:spPr>
          <a:xfrm flipH="false" flipV="false" rot="0">
            <a:off x="12609446" y="4392704"/>
            <a:ext cx="5325653" cy="5586018"/>
          </a:xfrm>
          <a:custGeom>
            <a:avLst/>
            <a:gdLst/>
            <a:ahLst/>
            <a:cxnLst/>
            <a:rect r="r" b="b" t="t" l="l"/>
            <a:pathLst>
              <a:path h="5586018" w="5325653">
                <a:moveTo>
                  <a:pt x="0" y="0"/>
                </a:moveTo>
                <a:lnTo>
                  <a:pt x="5325653" y="0"/>
                </a:lnTo>
                <a:lnTo>
                  <a:pt x="5325653" y="5586019"/>
                </a:lnTo>
                <a:lnTo>
                  <a:pt x="0" y="5586019"/>
                </a:lnTo>
                <a:lnTo>
                  <a:pt x="0" y="0"/>
                </a:lnTo>
                <a:close/>
              </a:path>
            </a:pathLst>
          </a:custGeom>
          <a:blipFill>
            <a:blip r:embed="rId4"/>
            <a:stretch>
              <a:fillRect l="0" t="0" r="0" b="0"/>
            </a:stretch>
          </a:blipFill>
        </p:spPr>
      </p:sp>
      <p:sp>
        <p:nvSpPr>
          <p:cNvPr name="TextBox 6" id="6"/>
          <p:cNvSpPr txBox="true"/>
          <p:nvPr/>
        </p:nvSpPr>
        <p:spPr>
          <a:xfrm rot="0">
            <a:off x="1028700" y="895350"/>
            <a:ext cx="12132880" cy="1112990"/>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FFFFFF"/>
                </a:solidFill>
                <a:latin typeface="TT Supermolot Neue Bold"/>
                <a:ea typeface="TT Supermolot Neue Bold"/>
                <a:cs typeface="TT Supermolot Neue Bold"/>
                <a:sym typeface="TT Supermolot Neue Bold"/>
              </a:rPr>
              <a:t>Exp</a:t>
            </a:r>
            <a:r>
              <a:rPr lang="en-US" b="true" sz="6500" strike="noStrike" u="none">
                <a:solidFill>
                  <a:srgbClr val="FFFFFF"/>
                </a:solidFill>
                <a:latin typeface="TT Supermolot Neue Bold"/>
                <a:ea typeface="TT Supermolot Neue Bold"/>
                <a:cs typeface="TT Supermolot Neue Bold"/>
                <a:sym typeface="TT Supermolot Neue Bold"/>
              </a:rPr>
              <a:t>e</a:t>
            </a:r>
            <a:r>
              <a:rPr lang="en-US" b="true" sz="6500" strike="noStrike" u="none">
                <a:solidFill>
                  <a:srgbClr val="FFFFFF"/>
                </a:solidFill>
                <a:latin typeface="TT Supermolot Neue Bold"/>
                <a:ea typeface="TT Supermolot Neue Bold"/>
                <a:cs typeface="TT Supermolot Neue Bold"/>
                <a:sym typeface="TT Supermolot Neue Bold"/>
              </a:rPr>
              <a:t>c</a:t>
            </a:r>
            <a:r>
              <a:rPr lang="en-US" b="true" sz="6500" strike="noStrike" u="none">
                <a:solidFill>
                  <a:srgbClr val="FFFFFF"/>
                </a:solidFill>
                <a:latin typeface="TT Supermolot Neue Bold"/>
                <a:ea typeface="TT Supermolot Neue Bold"/>
                <a:cs typeface="TT Supermolot Neue Bold"/>
                <a:sym typeface="TT Supermolot Neue Bold"/>
              </a:rPr>
              <a:t>te</a:t>
            </a:r>
            <a:r>
              <a:rPr lang="en-US" b="true" sz="6500" strike="noStrike" u="none">
                <a:solidFill>
                  <a:srgbClr val="FFFFFF"/>
                </a:solidFill>
                <a:latin typeface="TT Supermolot Neue Bold"/>
                <a:ea typeface="TT Supermolot Neue Bold"/>
                <a:cs typeface="TT Supermolot Neue Bold"/>
                <a:sym typeface="TT Supermolot Neue Bold"/>
              </a:rPr>
              <a:t>d</a:t>
            </a:r>
            <a:r>
              <a:rPr lang="en-US" b="true" sz="6500" strike="noStrike" u="none">
                <a:solidFill>
                  <a:srgbClr val="FFFFFF"/>
                </a:solidFill>
                <a:latin typeface="TT Supermolot Neue Bold"/>
                <a:ea typeface="TT Supermolot Neue Bold"/>
                <a:cs typeface="TT Supermolot Neue Bold"/>
                <a:sym typeface="TT Supermolot Neue Bold"/>
              </a:rPr>
              <a:t> </a:t>
            </a:r>
            <a:r>
              <a:rPr lang="en-US" b="true" sz="6500" strike="noStrike" u="none">
                <a:solidFill>
                  <a:srgbClr val="FFFFFF"/>
                </a:solidFill>
                <a:latin typeface="TT Supermolot Neue Bold"/>
                <a:ea typeface="TT Supermolot Neue Bold"/>
                <a:cs typeface="TT Supermolot Neue Bold"/>
                <a:sym typeface="TT Supermolot Neue Bold"/>
              </a:rPr>
              <a:t>Ac</a:t>
            </a:r>
            <a:r>
              <a:rPr lang="en-US" b="true" sz="6500" strike="noStrike" u="none">
                <a:solidFill>
                  <a:srgbClr val="FFFFFF"/>
                </a:solidFill>
                <a:latin typeface="TT Supermolot Neue Bold"/>
                <a:ea typeface="TT Supermolot Neue Bold"/>
                <a:cs typeface="TT Supermolot Neue Bold"/>
                <a:sym typeface="TT Supermolot Neue Bold"/>
              </a:rPr>
              <a:t>h</a:t>
            </a:r>
            <a:r>
              <a:rPr lang="en-US" b="true" sz="6500" strike="noStrike" u="none">
                <a:solidFill>
                  <a:srgbClr val="FFFFFF"/>
                </a:solidFill>
                <a:latin typeface="TT Supermolot Neue Bold"/>
                <a:ea typeface="TT Supermolot Neue Bold"/>
                <a:cs typeface="TT Supermolot Neue Bold"/>
                <a:sym typeface="TT Supermolot Neue Bold"/>
              </a:rPr>
              <a:t>i</a:t>
            </a:r>
            <a:r>
              <a:rPr lang="en-US" b="true" sz="6500" strike="noStrike" u="none">
                <a:solidFill>
                  <a:srgbClr val="FFFFFF"/>
                </a:solidFill>
                <a:latin typeface="TT Supermolot Neue Bold"/>
                <a:ea typeface="TT Supermolot Neue Bold"/>
                <a:cs typeface="TT Supermolot Neue Bold"/>
                <a:sym typeface="TT Supermolot Neue Bold"/>
              </a:rPr>
              <a:t>e</a:t>
            </a:r>
            <a:r>
              <a:rPr lang="en-US" b="true" sz="6500" strike="noStrike" u="none">
                <a:solidFill>
                  <a:srgbClr val="FFFFFF"/>
                </a:solidFill>
                <a:latin typeface="TT Supermolot Neue Bold"/>
                <a:ea typeface="TT Supermolot Neue Bold"/>
                <a:cs typeface="TT Supermolot Neue Bold"/>
                <a:sym typeface="TT Supermolot Neue Bold"/>
              </a:rPr>
              <a:t>v</a:t>
            </a:r>
            <a:r>
              <a:rPr lang="en-US" b="true" sz="6500" strike="noStrike" u="none">
                <a:solidFill>
                  <a:srgbClr val="FFFFFF"/>
                </a:solidFill>
                <a:latin typeface="TT Supermolot Neue Bold"/>
                <a:ea typeface="TT Supermolot Neue Bold"/>
                <a:cs typeface="TT Supermolot Neue Bold"/>
                <a:sym typeface="TT Supermolot Neue Bold"/>
              </a:rPr>
              <a:t>e</a:t>
            </a:r>
            <a:r>
              <a:rPr lang="en-US" b="true" sz="6500" strike="noStrike" u="none">
                <a:solidFill>
                  <a:srgbClr val="FFFFFF"/>
                </a:solidFill>
                <a:latin typeface="TT Supermolot Neue Bold"/>
                <a:ea typeface="TT Supermolot Neue Bold"/>
                <a:cs typeface="TT Supermolot Neue Bold"/>
                <a:sym typeface="TT Supermolot Neue Bold"/>
              </a:rPr>
              <a:t>m</a:t>
            </a:r>
            <a:r>
              <a:rPr lang="en-US" b="true" sz="6500" strike="noStrike" u="none">
                <a:solidFill>
                  <a:srgbClr val="FFFFFF"/>
                </a:solidFill>
                <a:latin typeface="TT Supermolot Neue Bold"/>
                <a:ea typeface="TT Supermolot Neue Bold"/>
                <a:cs typeface="TT Supermolot Neue Bold"/>
                <a:sym typeface="TT Supermolot Neue Bold"/>
              </a:rPr>
              <a:t>e</a:t>
            </a:r>
            <a:r>
              <a:rPr lang="en-US" b="true" sz="6500" strike="noStrike" u="none">
                <a:solidFill>
                  <a:srgbClr val="FFFFFF"/>
                </a:solidFill>
                <a:latin typeface="TT Supermolot Neue Bold"/>
                <a:ea typeface="TT Supermolot Neue Bold"/>
                <a:cs typeface="TT Supermolot Neue Bold"/>
                <a:sym typeface="TT Supermolot Neue Bold"/>
              </a:rPr>
              <a:t>n</a:t>
            </a:r>
            <a:r>
              <a:rPr lang="en-US" b="true" sz="6500" strike="noStrike" u="none">
                <a:solidFill>
                  <a:srgbClr val="FFFFFF"/>
                </a:solidFill>
                <a:latin typeface="TT Supermolot Neue Bold"/>
                <a:ea typeface="TT Supermolot Neue Bold"/>
                <a:cs typeface="TT Supermolot Neue Bold"/>
                <a:sym typeface="TT Supermolot Neue Bold"/>
              </a:rPr>
              <a:t>t</a:t>
            </a:r>
            <a:r>
              <a:rPr lang="en-US" b="true" sz="6500" strike="noStrike" u="none">
                <a:solidFill>
                  <a:srgbClr val="FFFFFF"/>
                </a:solidFill>
                <a:latin typeface="TT Supermolot Neue Bold"/>
                <a:ea typeface="TT Supermolot Neue Bold"/>
                <a:cs typeface="TT Supermolot Neue Bold"/>
                <a:sym typeface="TT Supermolot Neue Bold"/>
              </a:rPr>
              <a: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10D1E"/>
        </a:solidFill>
      </p:bgPr>
    </p:bg>
    <p:spTree>
      <p:nvGrpSpPr>
        <p:cNvPr id="1" name=""/>
        <p:cNvGrpSpPr/>
        <p:nvPr/>
      </p:nvGrpSpPr>
      <p:grpSpPr>
        <a:xfrm>
          <a:off x="0" y="0"/>
          <a:ext cx="0" cy="0"/>
          <a:chOff x="0" y="0"/>
          <a:chExt cx="0" cy="0"/>
        </a:xfrm>
      </p:grpSpPr>
      <p:grpSp>
        <p:nvGrpSpPr>
          <p:cNvPr name="Group 2" id="2"/>
          <p:cNvGrpSpPr/>
          <p:nvPr/>
        </p:nvGrpSpPr>
        <p:grpSpPr>
          <a:xfrm rot="0">
            <a:off x="0" y="664008"/>
            <a:ext cx="18288000" cy="10287000"/>
            <a:chOff x="0" y="0"/>
            <a:chExt cx="2833290" cy="1593725"/>
          </a:xfrm>
        </p:grpSpPr>
        <p:sp>
          <p:nvSpPr>
            <p:cNvPr name="Freeform 3" id="3"/>
            <p:cNvSpPr/>
            <p:nvPr/>
          </p:nvSpPr>
          <p:spPr>
            <a:xfrm flipH="false" flipV="false" rot="0">
              <a:off x="0" y="0"/>
              <a:ext cx="2833290" cy="1593725"/>
            </a:xfrm>
            <a:custGeom>
              <a:avLst/>
              <a:gdLst/>
              <a:ahLst/>
              <a:cxnLst/>
              <a:rect r="r" b="b" t="t" l="l"/>
              <a:pathLst>
                <a:path h="1593725" w="2833290">
                  <a:moveTo>
                    <a:pt x="0" y="0"/>
                  </a:moveTo>
                  <a:lnTo>
                    <a:pt x="2833290" y="0"/>
                  </a:lnTo>
                  <a:lnTo>
                    <a:pt x="2833290" y="1593725"/>
                  </a:lnTo>
                  <a:lnTo>
                    <a:pt x="0" y="1593725"/>
                  </a:lnTo>
                  <a:close/>
                </a:path>
              </a:pathLst>
            </a:custGeom>
            <a:blipFill>
              <a:blip r:embed="rId2"/>
              <a:stretch>
                <a:fillRect l="-12499" t="0" r="-12499" b="0"/>
              </a:stretch>
            </a:blipFill>
          </p:spPr>
        </p:sp>
      </p:grpSp>
      <p:sp>
        <p:nvSpPr>
          <p:cNvPr name="TextBox 4" id="4"/>
          <p:cNvSpPr txBox="true"/>
          <p:nvPr/>
        </p:nvSpPr>
        <p:spPr>
          <a:xfrm rot="0">
            <a:off x="-254630" y="2758954"/>
            <a:ext cx="19119553" cy="2138131"/>
          </a:xfrm>
          <a:prstGeom prst="rect">
            <a:avLst/>
          </a:prstGeom>
        </p:spPr>
        <p:txBody>
          <a:bodyPr anchor="t" rtlCol="false" tIns="0" lIns="0" bIns="0" rIns="0">
            <a:spAutoFit/>
          </a:bodyPr>
          <a:lstStyle/>
          <a:p>
            <a:pPr algn="ctr">
              <a:lnSpc>
                <a:spcPts val="17404"/>
              </a:lnSpc>
              <a:spcBef>
                <a:spcPct val="0"/>
              </a:spcBef>
            </a:pPr>
            <a:r>
              <a:rPr lang="en-US" b="true" sz="12432">
                <a:solidFill>
                  <a:srgbClr val="FFFFFF"/>
                </a:solidFill>
                <a:latin typeface="TT Supermolot Neue Expanded Bold"/>
                <a:ea typeface="TT Supermolot Neue Expanded Bold"/>
                <a:cs typeface="TT Supermolot Neue Expanded Bold"/>
                <a:sym typeface="TT Supermolot Neue Expa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DAGqsw_Ulb4</dc:identifier>
  <dcterms:modified xsi:type="dcterms:W3CDTF">2011-08-01T06:04:30Z</dcterms:modified>
  <cp:revision>1</cp:revision>
  <dc:title>MUTATION NETWORK TOOL</dc:title>
</cp:coreProperties>
</file>